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74" r:id="rId3"/>
    <p:sldId id="276" r:id="rId4"/>
    <p:sldId id="257" r:id="rId5"/>
    <p:sldId id="268" r:id="rId6"/>
    <p:sldId id="266" r:id="rId7"/>
    <p:sldId id="279" r:id="rId8"/>
    <p:sldId id="280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296" r:id="rId21"/>
    <p:sldId id="261" r:id="rId2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D8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7"/>
    <p:restoredTop sz="94624"/>
  </p:normalViewPr>
  <p:slideViewPr>
    <p:cSldViewPr snapToGrid="0">
      <p:cViewPr varScale="1">
        <p:scale>
          <a:sx n="111" d="100"/>
          <a:sy n="111" d="100"/>
        </p:scale>
        <p:origin x="4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2D31ED-B07A-784C-BC9D-43BFBF81B201}" type="datetimeFigureOut">
              <a:rPr lang="it-IT" smtClean="0"/>
              <a:t>09/04/26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AB1380-09B7-B349-AE5C-D57FE82DBF0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27158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AB1380-09B7-B349-AE5C-D57FE82DBF09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026434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AB1380-09B7-B349-AE5C-D57FE82DBF09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58402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1E800-EFDA-024C-92AE-09F4D6F41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498DEB2-8AAB-3CE0-0463-6C6C2F2D62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864D225-2531-7337-C34E-128945ED9E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1C9FF4C-9CC7-564D-F2EC-BBB1CF3463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AB1380-09B7-B349-AE5C-D57FE82DBF09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423509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F6619-32BF-5697-CFCF-BAEB3EF8D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E393DFE-2405-78F1-C8F8-24C97D5F46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FD95903-964E-E54E-2C52-343EBC97DE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581368D-61E1-E243-74B4-5309F8258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AB1380-09B7-B349-AE5C-D57FE82DBF09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496443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0D7D9-7C0A-87D2-2033-8D5448A9C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0AF9F83-AF31-B81A-3727-2C55B9EE67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C25A67C-C5C5-C860-66E5-1592167510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B100FCA-F2D3-CB68-D1F2-FF717ABF6D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AB1380-09B7-B349-AE5C-D57FE82DBF09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81579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684B11-9595-3258-7D62-714339EEA8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FEEF2E8-7D29-BF26-21AD-A2E18A4DD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FA39619-6F33-C3B4-21CF-EE119925D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02CAD-22CB-0149-9BD8-C9FB37A1DF28}" type="datetimeFigureOut">
              <a:rPr lang="it-IT" smtClean="0"/>
              <a:t>09/04/26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48B9793-F076-F42B-E1E7-EB672D835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BDF69DD-959B-5874-1924-094CA4609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04696-2587-E34C-81DC-B81D59200B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5726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ACABDD-AA34-593C-C79D-CBA67A0E2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8CFDB9E-F8AE-7B49-B774-C49B2FD27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EC92094-74BB-3C7D-493E-84247B1A6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02CAD-22CB-0149-9BD8-C9FB37A1DF28}" type="datetimeFigureOut">
              <a:rPr lang="it-IT" smtClean="0"/>
              <a:t>09/04/26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9BEE851-707D-3BEF-DD6C-E92F7C469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39D45E7-15A6-7CCA-6D6D-7001550F5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04696-2587-E34C-81DC-B81D59200B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42254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49219F-43E4-1450-FE32-531CA5F75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0922A00-B5DA-CBA6-DBA9-2057AE851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EA7A199-4BCF-8347-72C6-04E4D6D2F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02CAD-22CB-0149-9BD8-C9FB37A1DF28}" type="datetimeFigureOut">
              <a:rPr lang="it-IT" smtClean="0"/>
              <a:t>09/04/26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4C6D331-D034-DF09-2BF4-3A7DAF253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FE8C5EB-27AA-3474-3FE5-CF4C551C0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04696-2587-E34C-81DC-B81D59200B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06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A452B7-B1F1-6B47-EA86-6FC857CC1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3BB986D-B9D3-9CF1-6932-3A1F3F79B1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125C0B-8A25-8895-A819-25FFFFF1BC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8BB4472-8D08-0BF5-C869-10CDB1ED4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02CAD-22CB-0149-9BD8-C9FB37A1DF28}" type="datetimeFigureOut">
              <a:rPr lang="it-IT" smtClean="0"/>
              <a:t>09/04/26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7FE128A-D050-103F-AC47-E76F05F47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07BF820-6AFF-E0DE-3632-4EBD5F2A8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04696-2587-E34C-81DC-B81D59200B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05110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0D5F0F-ED46-777B-E06B-48F2866BD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DAF461D-FC83-99BD-E49A-D18758F416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D289EEF-DA57-7858-1027-C36BC0DA9D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5DA7268-049C-C842-16AA-EB27DB3CA8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A2E8E95E-C391-080A-5065-5430A2C398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04903BD-51E9-2E19-91F8-EF784B485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02CAD-22CB-0149-9BD8-C9FB37A1DF28}" type="datetimeFigureOut">
              <a:rPr lang="it-IT" smtClean="0"/>
              <a:t>09/04/26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EC5B3D2-4DC5-2D1A-3DF0-338024DF7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9537F469-6BB8-0EF9-715A-761CBEE1A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04696-2587-E34C-81DC-B81D59200B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02328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61CF5D-B0CC-BEB3-B927-7A75B9E6B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9155E71-448B-A855-EF27-2408918F5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02CAD-22CB-0149-9BD8-C9FB37A1DF28}" type="datetimeFigureOut">
              <a:rPr lang="it-IT" smtClean="0"/>
              <a:t>09/04/26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C18388E-84F8-01FB-3812-A2626934C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D9056CA-EFAA-51C3-E744-31F497CC5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04696-2587-E34C-81DC-B81D59200B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7717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611E4E83-D4CA-2D21-D20F-9C573A28C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02CAD-22CB-0149-9BD8-C9FB37A1DF28}" type="datetimeFigureOut">
              <a:rPr lang="it-IT" smtClean="0"/>
              <a:t>09/04/26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A3BCEED-D9AA-2224-072A-0526C37D3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33C4A71-43C5-90E1-5448-0744C6512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04696-2587-E34C-81DC-B81D59200B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7201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8925BB0-1C93-59D6-C80A-5CC57DF4C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84381DB-37D2-00D0-A1D2-9D248D143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55010F9-2E14-929E-6FBE-667883169A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CC72CD6-C55C-66FB-5D64-A24E47E2D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02CAD-22CB-0149-9BD8-C9FB37A1DF28}" type="datetimeFigureOut">
              <a:rPr lang="it-IT" smtClean="0"/>
              <a:t>09/04/26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60F083B-A125-0D9C-AE35-FEF8F45CD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C7BC6C0-1460-A01B-C6AD-51389062B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04696-2587-E34C-81DC-B81D59200B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66622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D7960C-8C50-2446-A18A-391CDE226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26B3AEC9-68B1-61C7-B8D9-CB047C8200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F8B28A8-77B6-29C0-EF7F-19B1ECC20C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511AA4A-9068-25EB-C9B6-3E8F95DDC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02CAD-22CB-0149-9BD8-C9FB37A1DF28}" type="datetimeFigureOut">
              <a:rPr lang="it-IT" smtClean="0"/>
              <a:t>09/04/26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2A1E970-2855-DBDE-A82F-C1C2C87AE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E570CDE-9744-9A92-6144-2F7A6EDFC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04696-2587-E34C-81DC-B81D59200B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85155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6DE42CD-7F43-5AA3-E531-230B67518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0FB6E44-476F-86BF-F629-99BAE2A726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3163ED3-1FB2-650A-BC9D-D716CCF49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02CAD-22CB-0149-9BD8-C9FB37A1DF28}" type="datetimeFigureOut">
              <a:rPr lang="it-IT" smtClean="0"/>
              <a:t>09/04/26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13630A-475B-0FB3-55F4-DD684EE82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43AB6D2-8A0C-2C04-F236-521C71C9D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04696-2587-E34C-81DC-B81D59200B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3481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C4AE1E49-CE43-3A8C-7385-26BC326D3C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5B8A986-B367-220A-7099-D6092CED0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8BB0E97-971A-ED16-F5A7-DAD7EE0F6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02CAD-22CB-0149-9BD8-C9FB37A1DF28}" type="datetimeFigureOut">
              <a:rPr lang="it-IT" smtClean="0"/>
              <a:t>09/04/26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FB1297-8DC8-2DC1-4A4C-99A18E529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F7690D1-2558-5CBF-1A45-40A98114D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04696-2587-E34C-81DC-B81D59200B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60307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9532D38D-A41E-C2B3-A8FA-264C55448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55DA24C-1C72-7ADE-ABBC-9702DFDE65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F0D4239-2A9B-7EA4-F72C-1A833E9D21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B02CAD-22CB-0149-9BD8-C9FB37A1DF28}" type="datetimeFigureOut">
              <a:rPr lang="it-IT" smtClean="0"/>
              <a:t>09/04/26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BD4CD79-62B2-F6C0-F10E-A33AAF08EA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08EC7F8-FAF4-0CD2-0BF2-3323CBAD81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F04696-2587-E34C-81DC-B81D59200B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2287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7E2821CE-133D-1F43-D697-FDBD846110AE}"/>
              </a:ext>
            </a:extLst>
          </p:cNvPr>
          <p:cNvSpPr/>
          <p:nvPr/>
        </p:nvSpPr>
        <p:spPr>
          <a:xfrm>
            <a:off x="-23939" y="0"/>
            <a:ext cx="12192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6" name="Immagine 5" descr="Immagine che contiene Elementi grafici, grafica, Carattere, schermata&#10;&#10;Il contenuto generato dall'IA potrebbe non essere corretto.">
            <a:extLst>
              <a:ext uri="{FF2B5EF4-FFF2-40B4-BE49-F238E27FC236}">
                <a16:creationId xmlns:a16="http://schemas.microsoft.com/office/drawing/2014/main" id="{30A676C4-A754-B659-D837-29D028AB85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811" b="2456"/>
          <a:stretch>
            <a:fillRect/>
          </a:stretch>
        </p:blipFill>
        <p:spPr>
          <a:xfrm>
            <a:off x="1972737" y="1064086"/>
            <a:ext cx="8410140" cy="4729827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AB59425-CE51-38AD-AD80-BD8AB73D532B}"/>
              </a:ext>
            </a:extLst>
          </p:cNvPr>
          <p:cNvSpPr txBox="1"/>
          <p:nvPr/>
        </p:nvSpPr>
        <p:spPr>
          <a:xfrm>
            <a:off x="1794921" y="1123164"/>
            <a:ext cx="86021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6000" b="1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SONG HIGHLIGHTER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104BEAE-63D3-CF50-A079-B2D9B0C0E799}"/>
              </a:ext>
            </a:extLst>
          </p:cNvPr>
          <p:cNvSpPr txBox="1"/>
          <p:nvPr/>
        </p:nvSpPr>
        <p:spPr>
          <a:xfrm>
            <a:off x="3595499" y="2271856"/>
            <a:ext cx="50009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i="1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Project Powered with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177E816F-9E90-0FBF-B061-070545DF940F}"/>
              </a:ext>
            </a:extLst>
          </p:cNvPr>
          <p:cNvSpPr txBox="1"/>
          <p:nvPr/>
        </p:nvSpPr>
        <p:spPr>
          <a:xfrm>
            <a:off x="-657574" y="286203"/>
            <a:ext cx="135071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b="1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Università Degli Studi di Bari di Aldo Moro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B8968A0-9093-A4E9-AA3E-83814C8110F9}"/>
              </a:ext>
            </a:extLst>
          </p:cNvPr>
          <p:cNvSpPr txBox="1"/>
          <p:nvPr/>
        </p:nvSpPr>
        <p:spPr>
          <a:xfrm>
            <a:off x="1347661" y="4247591"/>
            <a:ext cx="9448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solidFill>
                  <a:srgbClr val="1BD860"/>
                </a:solidFill>
                <a:latin typeface="Baskerville SemiBold" panose="02020502070401020303" pitchFamily="18" charset="0"/>
                <a:ea typeface="Baskerville SemiBold" panose="02020502070401020303" pitchFamily="18" charset="0"/>
              </a:rPr>
              <a:t>Dipartimento di Informatica</a:t>
            </a:r>
          </a:p>
          <a:p>
            <a:pPr algn="ctr"/>
            <a:r>
              <a:rPr lang="it-IT" sz="2000" b="1" dirty="0">
                <a:solidFill>
                  <a:srgbClr val="1BD860"/>
                </a:solidFill>
                <a:latin typeface="Baskerville SemiBold" panose="02020502070401020303" pitchFamily="18" charset="0"/>
                <a:ea typeface="Baskerville SemiBold" panose="02020502070401020303" pitchFamily="18" charset="0"/>
              </a:rPr>
              <a:t>Laurea Magistrale in Data Science </a:t>
            </a:r>
          </a:p>
          <a:p>
            <a:pPr algn="ctr"/>
            <a:r>
              <a:rPr lang="it-IT" sz="2000" b="1" dirty="0">
                <a:solidFill>
                  <a:srgbClr val="1BD860"/>
                </a:solidFill>
                <a:latin typeface="Baskerville SemiBold" panose="02020502070401020303" pitchFamily="18" charset="0"/>
                <a:ea typeface="Baskerville SemiBold" panose="02020502070401020303" pitchFamily="18" charset="0"/>
              </a:rPr>
              <a:t>Corso di Visual </a:t>
            </a:r>
            <a:r>
              <a:rPr lang="it-IT" sz="2000" b="1" dirty="0" err="1">
                <a:solidFill>
                  <a:srgbClr val="1BD860"/>
                </a:solidFill>
                <a:latin typeface="Baskerville SemiBold" panose="02020502070401020303" pitchFamily="18" charset="0"/>
                <a:ea typeface="Baskerville SemiBold" panose="02020502070401020303" pitchFamily="18" charset="0"/>
              </a:rPr>
              <a:t>Analytisc</a:t>
            </a:r>
            <a:r>
              <a:rPr lang="it-IT" sz="2000" b="1" dirty="0">
                <a:solidFill>
                  <a:srgbClr val="1BD860"/>
                </a:solidFill>
                <a:latin typeface="Baskerville SemiBold" panose="02020502070401020303" pitchFamily="18" charset="0"/>
                <a:ea typeface="Baskerville SemiBold" panose="02020502070401020303" pitchFamily="18" charset="0"/>
              </a:rPr>
              <a:t> and Reporting anno 2025-2026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FA632C1E-3949-B361-A285-0631748A7E7F}"/>
              </a:ext>
            </a:extLst>
          </p:cNvPr>
          <p:cNvSpPr txBox="1"/>
          <p:nvPr/>
        </p:nvSpPr>
        <p:spPr>
          <a:xfrm>
            <a:off x="146755" y="5682821"/>
            <a:ext cx="3031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Professore: Paolo Buono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E946B71D-CDF6-724A-C72A-581DFFC3058B}"/>
              </a:ext>
            </a:extLst>
          </p:cNvPr>
          <p:cNvSpPr txBox="1"/>
          <p:nvPr/>
        </p:nvSpPr>
        <p:spPr>
          <a:xfrm>
            <a:off x="146755" y="6119673"/>
            <a:ext cx="3488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Studente: Diego Miccoli</a:t>
            </a:r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FA5DC311-4DFF-F054-1040-283E1A7F9F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1370" y="5115944"/>
            <a:ext cx="1515612" cy="1503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766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po 4">
            <a:extLst>
              <a:ext uri="{FF2B5EF4-FFF2-40B4-BE49-F238E27FC236}">
                <a16:creationId xmlns:a16="http://schemas.microsoft.com/office/drawing/2014/main" id="{B995E3BC-01CA-D895-6B55-CA8CA418B528}"/>
              </a:ext>
            </a:extLst>
          </p:cNvPr>
          <p:cNvGrpSpPr/>
          <p:nvPr/>
        </p:nvGrpSpPr>
        <p:grpSpPr>
          <a:xfrm>
            <a:off x="-2232" y="0"/>
            <a:ext cx="12192000" cy="6858000"/>
            <a:chOff x="343934" y="0"/>
            <a:chExt cx="12192000" cy="6858000"/>
          </a:xfrm>
        </p:grpSpPr>
        <p:sp>
          <p:nvSpPr>
            <p:cNvPr id="6" name="Rettangolo 5">
              <a:extLst>
                <a:ext uri="{FF2B5EF4-FFF2-40B4-BE49-F238E27FC236}">
                  <a16:creationId xmlns:a16="http://schemas.microsoft.com/office/drawing/2014/main" id="{E75419B3-4AAD-C6F5-A77A-CAA3892D4169}"/>
                </a:ext>
              </a:extLst>
            </p:cNvPr>
            <p:cNvSpPr/>
            <p:nvPr/>
          </p:nvSpPr>
          <p:spPr>
            <a:xfrm>
              <a:off x="343934" y="0"/>
              <a:ext cx="12192000" cy="6858000"/>
            </a:xfrm>
            <a:prstGeom prst="rect">
              <a:avLst/>
            </a:prstGeom>
            <a:solidFill>
              <a:srgbClr val="1BD8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pic>
          <p:nvPicPr>
            <p:cNvPr id="7" name="Immagine 6" descr="Immagine che contiene Elementi grafici, logo, verde, Carattere&#10;&#10;Il contenuto generato dall'IA potrebbe non essere corretto.">
              <a:extLst>
                <a:ext uri="{FF2B5EF4-FFF2-40B4-BE49-F238E27FC236}">
                  <a16:creationId xmlns:a16="http://schemas.microsoft.com/office/drawing/2014/main" id="{4D25D582-BE47-D516-8A48-FC9DDC79C9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649" r="3" b="3"/>
            <a:stretch>
              <a:fillRect/>
            </a:stretch>
          </p:blipFill>
          <p:spPr>
            <a:xfrm>
              <a:off x="7759800" y="4242084"/>
              <a:ext cx="3095125" cy="1740682"/>
            </a:xfrm>
            <a:prstGeom prst="rect">
              <a:avLst/>
            </a:prstGeom>
          </p:spPr>
        </p:pic>
      </p:grp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A9DEDF5-9827-4325-7AFC-4C6857C1D2FC}"/>
              </a:ext>
            </a:extLst>
          </p:cNvPr>
          <p:cNvSpPr txBox="1"/>
          <p:nvPr/>
        </p:nvSpPr>
        <p:spPr>
          <a:xfrm>
            <a:off x="1157469" y="219919"/>
            <a:ext cx="90398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Introduzione, logica narrativa dell’imbuto e dataset scelto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BDCFDBC8-DC1F-0E4A-EE8A-A6DE4E4E6A80}"/>
              </a:ext>
            </a:extLst>
          </p:cNvPr>
          <p:cNvSpPr txBox="1"/>
          <p:nvPr/>
        </p:nvSpPr>
        <p:spPr>
          <a:xfrm>
            <a:off x="449483" y="1138339"/>
            <a:ext cx="5022292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INTRODUZIONE</a:t>
            </a:r>
          </a:p>
          <a:p>
            <a:pPr algn="ctr"/>
            <a:endParaRPr lang="it-IT" dirty="0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algn="just"/>
            <a:r>
              <a:rPr lang="it-IT" sz="1600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Piano di consulenza per una casa discografica.</a:t>
            </a:r>
          </a:p>
          <a:p>
            <a:pPr algn="just"/>
            <a:endParaRPr lang="it-IT" sz="1600" dirty="0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algn="just"/>
            <a:r>
              <a:rPr lang="it-IT" sz="1600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Obiettivo dare una risposta a delle domande di business tramite rappresentazioni grafiche.</a:t>
            </a:r>
          </a:p>
          <a:p>
            <a:pPr algn="just"/>
            <a:endParaRPr lang="it-IT" dirty="0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algn="ctr"/>
            <a:r>
              <a:rPr lang="it-IT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DATASET</a:t>
            </a:r>
          </a:p>
          <a:p>
            <a:pPr algn="ctr"/>
            <a:endParaRPr lang="it-IT" dirty="0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algn="just"/>
            <a:r>
              <a:rPr lang="it-IT" sz="1600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Il dataset usato è preso da </a:t>
            </a:r>
            <a:r>
              <a:rPr lang="it-IT" sz="1600" dirty="0" err="1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Kaggle</a:t>
            </a:r>
            <a:r>
              <a:rPr lang="it-IT" sz="1600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e riguarda circa 2000 brani dal 1998 al 2020, descrivendo ogni brano attraverso feature sonore e inerenti all’artista.</a:t>
            </a:r>
          </a:p>
          <a:p>
            <a:pPr algn="just"/>
            <a:endParaRPr lang="it-IT" sz="1600" dirty="0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algn="just"/>
            <a:r>
              <a:rPr lang="it-IT" sz="1600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Elaborazione dei dati tramite varie tecniche di standardizzazione e one-hot </a:t>
            </a:r>
            <a:r>
              <a:rPr lang="it-IT" sz="1600" dirty="0" err="1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encoding</a:t>
            </a:r>
            <a:r>
              <a:rPr lang="it-IT" sz="1600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per gestire meglio le analisi.</a:t>
            </a:r>
          </a:p>
          <a:p>
            <a:pPr algn="just"/>
            <a:endParaRPr lang="it-IT" dirty="0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algn="just"/>
            <a:endParaRPr lang="it-IT" dirty="0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7493A7B3-6D23-7E32-8D7B-9E428D541838}"/>
              </a:ext>
            </a:extLst>
          </p:cNvPr>
          <p:cNvSpPr txBox="1"/>
          <p:nvPr/>
        </p:nvSpPr>
        <p:spPr>
          <a:xfrm>
            <a:off x="6419239" y="1146228"/>
            <a:ext cx="5022291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LOGICA DELL’IMBUTO</a:t>
            </a:r>
          </a:p>
          <a:p>
            <a:pPr algn="just"/>
            <a:endParaRPr lang="it-IT" sz="1600" dirty="0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algn="just"/>
            <a:endParaRPr lang="it-IT" sz="1600" dirty="0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algn="just"/>
            <a:r>
              <a:rPr lang="it-IT" sz="1600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Usata per creare una narrazione logica con un focus che si muove dal generale allo specifico.</a:t>
            </a:r>
          </a:p>
          <a:p>
            <a:pPr algn="just"/>
            <a:endParaRPr lang="it-IT" sz="1600" dirty="0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algn="just"/>
            <a:r>
              <a:rPr lang="it-IT" sz="1600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Ha permesso la creazione e concatenazione delle domande di business per la produzione di infografiche che riuscissero a rispondere a tali richieste</a:t>
            </a:r>
            <a:r>
              <a:rPr lang="it-IT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.</a:t>
            </a:r>
          </a:p>
          <a:p>
            <a:pPr algn="just"/>
            <a:endParaRPr lang="it-IT" dirty="0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39222A42-89CF-7B40-EE8A-10F40E2ED309}"/>
              </a:ext>
            </a:extLst>
          </p:cNvPr>
          <p:cNvSpPr txBox="1"/>
          <p:nvPr/>
        </p:nvSpPr>
        <p:spPr>
          <a:xfrm>
            <a:off x="5672310" y="6336506"/>
            <a:ext cx="66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1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46B74E98-994B-C391-A544-BBCC70847419}"/>
              </a:ext>
            </a:extLst>
          </p:cNvPr>
          <p:cNvSpPr txBox="1"/>
          <p:nvPr/>
        </p:nvSpPr>
        <p:spPr>
          <a:xfrm>
            <a:off x="10469265" y="6327436"/>
            <a:ext cx="1580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i="1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Diego Miccoli</a:t>
            </a:r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CA667CA3-3E0E-3829-2F87-3002960CE5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602" y="51093"/>
            <a:ext cx="805977" cy="799316"/>
          </a:xfrm>
          <a:prstGeom prst="rect">
            <a:avLst/>
          </a:prstGeom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8A3DB0EF-C733-988F-FFEA-4373DD64A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5" y="51093"/>
            <a:ext cx="805977" cy="799316"/>
          </a:xfrm>
          <a:prstGeom prst="rect">
            <a:avLst/>
          </a:prstGeom>
        </p:spPr>
      </p:pic>
      <p:pic>
        <p:nvPicPr>
          <p:cNvPr id="21" name="Immagine 20">
            <a:extLst>
              <a:ext uri="{FF2B5EF4-FFF2-40B4-BE49-F238E27FC236}">
                <a16:creationId xmlns:a16="http://schemas.microsoft.com/office/drawing/2014/main" id="{14998951-EBF6-0B79-BB20-AA68AAB80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3823" y="4904483"/>
            <a:ext cx="1303018" cy="1292249"/>
          </a:xfrm>
          <a:prstGeom prst="rect">
            <a:avLst/>
          </a:prstGeom>
        </p:spPr>
      </p:pic>
      <p:pic>
        <p:nvPicPr>
          <p:cNvPr id="22" name="Immagine 21" descr="Immagine che contiene cerchi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3D83C68F-D08B-786A-7E1B-AB9B8DA3AE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232" y="5846664"/>
            <a:ext cx="1025278" cy="95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966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94CAB-9E33-2CF7-3171-9B38127E4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Carattere, logo, Elementi grafici, simbolo&#10;&#10;Il contenuto generato dall'IA potrebbe non essere corretto.">
            <a:extLst>
              <a:ext uri="{FF2B5EF4-FFF2-40B4-BE49-F238E27FC236}">
                <a16:creationId xmlns:a16="http://schemas.microsoft.com/office/drawing/2014/main" id="{5D043AAB-4944-A916-1074-809AB462D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6337" y="4667390"/>
            <a:ext cx="2949115" cy="987954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84DBB5BB-24BA-2DD7-5102-9DCD3693E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754" y="4667390"/>
            <a:ext cx="1580445" cy="1567383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E57D6AB9-6ECC-5B6B-AA34-DB4527A286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4740" y="5874304"/>
            <a:ext cx="1117182" cy="962679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4DC5B873-45B0-0F89-C35F-95234DC55F51}"/>
              </a:ext>
            </a:extLst>
          </p:cNvPr>
          <p:cNvSpPr txBox="1"/>
          <p:nvPr/>
        </p:nvSpPr>
        <p:spPr>
          <a:xfrm>
            <a:off x="5429956" y="6355644"/>
            <a:ext cx="66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>
                <a:latin typeface="Baskerville" panose="02020502070401020303" pitchFamily="18" charset="0"/>
                <a:ea typeface="Baskerville" panose="02020502070401020303" pitchFamily="18" charset="0"/>
              </a:rPr>
              <a:t>2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7E2EEC8-0605-1644-C035-24421D90F9D8}"/>
              </a:ext>
            </a:extLst>
          </p:cNvPr>
          <p:cNvSpPr txBox="1"/>
          <p:nvPr/>
        </p:nvSpPr>
        <p:spPr>
          <a:xfrm>
            <a:off x="10453511" y="6234773"/>
            <a:ext cx="1580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i="1" dirty="0">
                <a:latin typeface="Baskerville" panose="02020502070401020303" pitchFamily="18" charset="0"/>
                <a:ea typeface="Baskerville" panose="02020502070401020303" pitchFamily="18" charset="0"/>
              </a:rPr>
              <a:t>Diego Miccoli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614FA15-2738-7756-61CF-FBBB1A3C93F6}"/>
              </a:ext>
            </a:extLst>
          </p:cNvPr>
          <p:cNvSpPr txBox="1"/>
          <p:nvPr/>
        </p:nvSpPr>
        <p:spPr>
          <a:xfrm>
            <a:off x="1447692" y="1196896"/>
            <a:ext cx="878518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it-IT" dirty="0">
                <a:latin typeface="Baskerville" panose="02020502070401020303" pitchFamily="18" charset="0"/>
                <a:ea typeface="Baskerville" panose="02020502070401020303" pitchFamily="18" charset="0"/>
              </a:rPr>
              <a:t>Come sta evolvendo il mercato musicale?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it-IT" dirty="0">
                <a:latin typeface="Baskerville" panose="02020502070401020303" pitchFamily="18" charset="0"/>
                <a:ea typeface="Baskerville" panose="02020502070401020303" pitchFamily="18" charset="0"/>
              </a:rPr>
              <a:t>In mano a chi è il mercato discografico?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it-IT" dirty="0">
                <a:latin typeface="Baskerville" panose="02020502070401020303" pitchFamily="18" charset="0"/>
                <a:ea typeface="Baskerville" panose="02020502070401020303" pitchFamily="18" charset="0"/>
              </a:rPr>
              <a:t>Quale genere musicale offre il migliore rapporto tra    opportunità e concorrenza?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it-IT" dirty="0">
                <a:latin typeface="Baskerville" panose="02020502070401020303" pitchFamily="18" charset="0"/>
                <a:ea typeface="Baskerville" panose="02020502070401020303" pitchFamily="18" charset="0"/>
              </a:rPr>
              <a:t>Come deve suonare tecnicamente un brano per essere competitivo nelle classifiche?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it-IT" dirty="0">
                <a:latin typeface="Baskerville" panose="02020502070401020303" pitchFamily="18" charset="0"/>
                <a:ea typeface="Baskerville" panose="02020502070401020303" pitchFamily="18" charset="0"/>
              </a:rPr>
              <a:t>Il linguaggio esplicito è un ostacolo alla diffusione radiofonica o un driver di autenticità?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it-IT" dirty="0">
                <a:latin typeface="Baskerville" panose="02020502070401020303" pitchFamily="18" charset="0"/>
                <a:ea typeface="Baskerville" panose="02020502070401020303" pitchFamily="18" charset="0"/>
              </a:rPr>
              <a:t>Esistono tonalità o ritmi che statisticamente producono hit con maggiore frequenza?</a:t>
            </a:r>
          </a:p>
          <a:p>
            <a:pPr marL="342900" indent="-342900">
              <a:buFont typeface="+mj-lt"/>
              <a:buAutoNum type="arabicPeriod"/>
            </a:pPr>
            <a:endParaRPr lang="it-IT" dirty="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F26A41D2-BA36-DEDC-96E8-EB8FBE09BC6B}"/>
              </a:ext>
            </a:extLst>
          </p:cNvPr>
          <p:cNvSpPr txBox="1"/>
          <p:nvPr/>
        </p:nvSpPr>
        <p:spPr>
          <a:xfrm>
            <a:off x="1447692" y="196277"/>
            <a:ext cx="91704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latin typeface="Baskerville" panose="02020502070401020303" pitchFamily="18" charset="0"/>
                <a:ea typeface="Baskerville" panose="02020502070401020303" pitchFamily="18" charset="0"/>
              </a:rPr>
              <a:t>Le Sei Domande di Business e la Comprensione degli obiettivi 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04CD561-85AC-2625-0ABD-6B35B74AB43F}"/>
              </a:ext>
            </a:extLst>
          </p:cNvPr>
          <p:cNvSpPr txBox="1"/>
          <p:nvPr/>
        </p:nvSpPr>
        <p:spPr>
          <a:xfrm>
            <a:off x="1660253" y="4145704"/>
            <a:ext cx="23200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it-IT" b="1" dirty="0">
                <a:latin typeface="Baskerville SemiBold" panose="02020502070401020303" pitchFamily="18" charset="0"/>
                <a:ea typeface="Baskerville SemiBold" panose="02020502070401020303" pitchFamily="18" charset="0"/>
              </a:rPr>
              <a:t>TREND</a:t>
            </a:r>
          </a:p>
          <a:p>
            <a:pPr marL="342900" indent="-342900">
              <a:buFont typeface="+mj-lt"/>
              <a:buAutoNum type="arabicPeriod"/>
            </a:pPr>
            <a:r>
              <a:rPr lang="it-IT" b="1" dirty="0">
                <a:latin typeface="Baskerville SemiBold" panose="02020502070401020303" pitchFamily="18" charset="0"/>
                <a:ea typeface="Baskerville SemiBold" panose="02020502070401020303" pitchFamily="18" charset="0"/>
              </a:rPr>
              <a:t>COMPETITORS</a:t>
            </a:r>
          </a:p>
          <a:p>
            <a:pPr marL="342900" indent="-342900">
              <a:buFont typeface="+mj-lt"/>
              <a:buAutoNum type="arabicPeriod"/>
            </a:pPr>
            <a:r>
              <a:rPr lang="it-IT" b="1" dirty="0">
                <a:latin typeface="Baskerville SemiBold" panose="02020502070401020303" pitchFamily="18" charset="0"/>
                <a:ea typeface="Baskerville SemiBold" panose="02020502070401020303" pitchFamily="18" charset="0"/>
              </a:rPr>
              <a:t>POSITIONING</a:t>
            </a:r>
          </a:p>
          <a:p>
            <a:pPr marL="342900" indent="-342900">
              <a:buFont typeface="+mj-lt"/>
              <a:buAutoNum type="arabicPeriod"/>
            </a:pPr>
            <a:r>
              <a:rPr lang="it-IT" b="1" dirty="0">
                <a:latin typeface="Baskerville SemiBold" panose="02020502070401020303" pitchFamily="18" charset="0"/>
                <a:ea typeface="Baskerville SemiBold" panose="02020502070401020303" pitchFamily="18" charset="0"/>
              </a:rPr>
              <a:t>PRODUCT</a:t>
            </a:r>
          </a:p>
          <a:p>
            <a:pPr marL="342900" indent="-342900">
              <a:buFont typeface="+mj-lt"/>
              <a:buAutoNum type="arabicPeriod"/>
            </a:pPr>
            <a:r>
              <a:rPr lang="it-IT" b="1" dirty="0">
                <a:latin typeface="Baskerville SemiBold" panose="02020502070401020303" pitchFamily="18" charset="0"/>
                <a:ea typeface="Baskerville SemiBold" panose="02020502070401020303" pitchFamily="18" charset="0"/>
              </a:rPr>
              <a:t>MARKETING</a:t>
            </a:r>
          </a:p>
          <a:p>
            <a:pPr marL="342900" indent="-342900">
              <a:buFont typeface="+mj-lt"/>
              <a:buAutoNum type="arabicPeriod"/>
            </a:pPr>
            <a:r>
              <a:rPr lang="it-IT" b="1" dirty="0">
                <a:latin typeface="Baskerville SemiBold" panose="02020502070401020303" pitchFamily="18" charset="0"/>
                <a:ea typeface="Baskerville SemiBold" panose="02020502070401020303" pitchFamily="18" charset="0"/>
              </a:rPr>
              <a:t>DETAILS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2B1C25F-E697-8E80-15E8-5A449FB95333}"/>
              </a:ext>
            </a:extLst>
          </p:cNvPr>
          <p:cNvSpPr txBox="1"/>
          <p:nvPr/>
        </p:nvSpPr>
        <p:spPr>
          <a:xfrm>
            <a:off x="1447692" y="3228221"/>
            <a:ext cx="94093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dirty="0">
                <a:latin typeface="Baskerville" panose="02020502070401020303" pitchFamily="18" charset="0"/>
                <a:ea typeface="Baskerville" panose="02020502070401020303" pitchFamily="18" charset="0"/>
              </a:rPr>
              <a:t>La "Logica Dell’Imbuto" ci permette di guadare al mercato generale, analizzarlo, comprendere dove piazzare un nuovo artista e comprendere il suono che deve produrre affinché funzioni in radio attraverso 6 obbiettivi chiave:</a:t>
            </a:r>
          </a:p>
          <a:p>
            <a:endParaRPr lang="it-IT" dirty="0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A001808E-3A86-B54F-3CD8-E758ED37F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3254" y="81097"/>
            <a:ext cx="970702" cy="962679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AEE67D35-284C-A7A0-B411-4BE00B535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1097"/>
            <a:ext cx="970702" cy="962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12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magine 4" descr="Immagine che contiene Elementi grafici, grafica, Carattere, schermata&#10;&#10;Il contenuto generato dall'IA potrebbe non essere corretto.">
            <a:extLst>
              <a:ext uri="{FF2B5EF4-FFF2-40B4-BE49-F238E27FC236}">
                <a16:creationId xmlns:a16="http://schemas.microsoft.com/office/drawing/2014/main" id="{92178AB0-1F90-3E4C-59AD-E4DA04F25A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11" b="245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F4B02BA4-6016-0FA1-1A51-C51581BF8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2941" y="85111"/>
            <a:ext cx="837923" cy="830998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E2705EC5-B29A-A760-FC42-DA177D9519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85902" y="5852333"/>
            <a:ext cx="1932737" cy="1062365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C0A50229-FC64-915D-3C59-00D8931110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176" y="871539"/>
            <a:ext cx="10397765" cy="5109339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505487F6-6F8F-FFBE-5522-FF331776134E}"/>
              </a:ext>
            </a:extLst>
          </p:cNvPr>
          <p:cNvSpPr txBox="1"/>
          <p:nvPr/>
        </p:nvSpPr>
        <p:spPr>
          <a:xfrm>
            <a:off x="5791036" y="6332351"/>
            <a:ext cx="66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3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95D34769-0BF6-1E32-7E74-42A113370621}"/>
              </a:ext>
            </a:extLst>
          </p:cNvPr>
          <p:cNvSpPr txBox="1"/>
          <p:nvPr/>
        </p:nvSpPr>
        <p:spPr>
          <a:xfrm>
            <a:off x="10453511" y="6234773"/>
            <a:ext cx="1580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i="1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Diego Miccoli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4DC04215-FB48-D30A-DC51-08D0181763CD}"/>
              </a:ext>
            </a:extLst>
          </p:cNvPr>
          <p:cNvSpPr txBox="1"/>
          <p:nvPr/>
        </p:nvSpPr>
        <p:spPr>
          <a:xfrm>
            <a:off x="1547988" y="244001"/>
            <a:ext cx="91092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Come sta evolvendo il mercato musicale?</a:t>
            </a:r>
          </a:p>
          <a:p>
            <a:pPr algn="ctr"/>
            <a:endParaRPr lang="it-IT" sz="2400" b="1" dirty="0">
              <a:solidFill>
                <a:srgbClr val="1BD860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7B23A670-A90D-CBB9-EEB2-D686A933D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9" y="85111"/>
            <a:ext cx="837922" cy="83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262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E160D-3036-BFAD-67AC-D20A28D4B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o 7">
            <a:extLst>
              <a:ext uri="{FF2B5EF4-FFF2-40B4-BE49-F238E27FC236}">
                <a16:creationId xmlns:a16="http://schemas.microsoft.com/office/drawing/2014/main" id="{6060E909-90B4-31D1-FAA7-486FC2BB9B09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6" name="Rettangolo 5">
              <a:extLst>
                <a:ext uri="{FF2B5EF4-FFF2-40B4-BE49-F238E27FC236}">
                  <a16:creationId xmlns:a16="http://schemas.microsoft.com/office/drawing/2014/main" id="{7E662275-8918-ABF7-2514-91B321C8B23E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BD8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5" name="Immagine 4" descr="Immagine che contiene Elementi grafici, logo, verde, Carattere&#10;&#10;Il contenuto generato dall'IA potrebbe non essere corretto.">
              <a:extLst>
                <a:ext uri="{FF2B5EF4-FFF2-40B4-BE49-F238E27FC236}">
                  <a16:creationId xmlns:a16="http://schemas.microsoft.com/office/drawing/2014/main" id="{28894866-5805-7D91-3CFF-A15961F4FB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649" r="3" b="3"/>
            <a:stretch>
              <a:fillRect/>
            </a:stretch>
          </p:blipFill>
          <p:spPr>
            <a:xfrm>
              <a:off x="2813750" y="1583080"/>
              <a:ext cx="6564500" cy="3691840"/>
            </a:xfrm>
            <a:prstGeom prst="rect">
              <a:avLst/>
            </a:prstGeom>
          </p:spPr>
        </p:pic>
      </p:grpSp>
      <p:pic>
        <p:nvPicPr>
          <p:cNvPr id="11" name="Immagine 10">
            <a:extLst>
              <a:ext uri="{FF2B5EF4-FFF2-40B4-BE49-F238E27FC236}">
                <a16:creationId xmlns:a16="http://schemas.microsoft.com/office/drawing/2014/main" id="{F8E77C68-6D79-10B6-E2CB-8B004E3F06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6034" y="69099"/>
            <a:ext cx="837922" cy="830997"/>
          </a:xfrm>
          <a:prstGeom prst="rect">
            <a:avLst/>
          </a:prstGeom>
        </p:spPr>
      </p:pic>
      <p:pic>
        <p:nvPicPr>
          <p:cNvPr id="14" name="Immagine 13" descr="Immagine che contiene cerchi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3CEE3C1D-880A-41A7-7E98-4850CC5F22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981604"/>
            <a:ext cx="879676" cy="821031"/>
          </a:xfrm>
          <a:prstGeom prst="rect">
            <a:avLst/>
          </a:prstGeom>
        </p:spPr>
      </p:pic>
      <p:pic>
        <p:nvPicPr>
          <p:cNvPr id="3" name="Immagine 2" descr="Immagine che contiene testo, linea, schermata, design&#10;&#10;Il contenuto generato dall'IA potrebbe non essere corretto.">
            <a:extLst>
              <a:ext uri="{FF2B5EF4-FFF2-40B4-BE49-F238E27FC236}">
                <a16:creationId xmlns:a16="http://schemas.microsoft.com/office/drawing/2014/main" id="{B774A589-825D-062D-7738-977F62935C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362" y="1013908"/>
            <a:ext cx="10846265" cy="4966969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2E5E7011-39BF-7A5F-DE7B-4F772A31C869}"/>
              </a:ext>
            </a:extLst>
          </p:cNvPr>
          <p:cNvSpPr txBox="1"/>
          <p:nvPr/>
        </p:nvSpPr>
        <p:spPr>
          <a:xfrm>
            <a:off x="5762978" y="6355644"/>
            <a:ext cx="66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4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D971BA1E-72F3-41F6-B46D-73047A2F9B8F}"/>
              </a:ext>
            </a:extLst>
          </p:cNvPr>
          <p:cNvSpPr txBox="1"/>
          <p:nvPr/>
        </p:nvSpPr>
        <p:spPr>
          <a:xfrm>
            <a:off x="10453511" y="6234773"/>
            <a:ext cx="1580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i="1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Diego Miccoli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884DD82D-AC7E-B538-EB76-FD9A09894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044" y="55365"/>
            <a:ext cx="837922" cy="830997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76F3E9C2-2F34-0F98-6253-C9B583D985F9}"/>
              </a:ext>
            </a:extLst>
          </p:cNvPr>
          <p:cNvSpPr txBox="1"/>
          <p:nvPr/>
        </p:nvSpPr>
        <p:spPr>
          <a:xfrm>
            <a:off x="1547988" y="244001"/>
            <a:ext cx="91092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Come suona una Hit rispetto al resto delle canzoni?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C65D3569-6942-2C7B-40A8-86CDF36D2671}"/>
              </a:ext>
            </a:extLst>
          </p:cNvPr>
          <p:cNvSpPr txBox="1"/>
          <p:nvPr/>
        </p:nvSpPr>
        <p:spPr>
          <a:xfrm>
            <a:off x="2275809" y="5986312"/>
            <a:ext cx="7653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Non c’è una reale differenza,  altri fattori potrebbe stabilire una Hit da una </a:t>
            </a:r>
            <a:r>
              <a:rPr lang="it-IT" dirty="0" err="1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Fail</a:t>
            </a:r>
            <a:endParaRPr lang="it-IT" dirty="0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486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EADB9-DCB4-2500-3810-B70C2DE1B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Carattere, logo, Elementi grafici, simbolo&#10;&#10;Il contenuto generato dall'IA potrebbe non essere corretto.">
            <a:extLst>
              <a:ext uri="{FF2B5EF4-FFF2-40B4-BE49-F238E27FC236}">
                <a16:creationId xmlns:a16="http://schemas.microsoft.com/office/drawing/2014/main" id="{150DEB43-9597-BF99-4C68-E0B411DE9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8548" y="2456436"/>
            <a:ext cx="2903175" cy="972564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1394DE72-D6F1-6CA2-7FFB-18CD35900F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618" y="792533"/>
            <a:ext cx="10792761" cy="5272933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C6090BAD-D11B-8944-70B4-8A976D7B41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212" y="79203"/>
            <a:ext cx="837922" cy="830997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45B6CB0E-812B-B775-138D-5B2987B0C4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8009" y="79203"/>
            <a:ext cx="837922" cy="830997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314D6F09-7CDD-D78B-C46F-CC0926E4E0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932490"/>
            <a:ext cx="982134" cy="846307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BDA79DBE-9534-FDF1-6F9B-3FEB5BB5CF8C}"/>
              </a:ext>
            </a:extLst>
          </p:cNvPr>
          <p:cNvSpPr txBox="1"/>
          <p:nvPr/>
        </p:nvSpPr>
        <p:spPr>
          <a:xfrm>
            <a:off x="5762977" y="6316938"/>
            <a:ext cx="66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>
                <a:latin typeface="Baskerville" panose="02020502070401020303" pitchFamily="18" charset="0"/>
                <a:ea typeface="Baskerville" panose="02020502070401020303" pitchFamily="18" charset="0"/>
              </a:rPr>
              <a:t>5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BD023E5-6149-C9DE-86D9-F4D38B4987B7}"/>
              </a:ext>
            </a:extLst>
          </p:cNvPr>
          <p:cNvSpPr txBox="1"/>
          <p:nvPr/>
        </p:nvSpPr>
        <p:spPr>
          <a:xfrm>
            <a:off x="10453511" y="6234773"/>
            <a:ext cx="1580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i="1" dirty="0">
                <a:latin typeface="Baskerville" panose="02020502070401020303" pitchFamily="18" charset="0"/>
                <a:ea typeface="Baskerville" panose="02020502070401020303" pitchFamily="18" charset="0"/>
              </a:rPr>
              <a:t>Diego Miccoli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EFAB52AA-913A-C272-C0BC-15B4DD4AB467}"/>
              </a:ext>
            </a:extLst>
          </p:cNvPr>
          <p:cNvSpPr txBox="1"/>
          <p:nvPr/>
        </p:nvSpPr>
        <p:spPr>
          <a:xfrm>
            <a:off x="1778641" y="117069"/>
            <a:ext cx="88199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latin typeface="Baskerville" panose="02020502070401020303" pitchFamily="18" charset="0"/>
                <a:ea typeface="Baskerville" panose="02020502070401020303" pitchFamily="18" charset="0"/>
              </a:rPr>
              <a:t>In mano a chi è il mercato discografico?</a:t>
            </a:r>
          </a:p>
        </p:txBody>
      </p:sp>
    </p:spTree>
    <p:extLst>
      <p:ext uri="{BB962C8B-B14F-4D97-AF65-F5344CB8AC3E}">
        <p14:creationId xmlns:p14="http://schemas.microsoft.com/office/powerpoint/2010/main" val="805239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EBAD0-46A9-321E-51B0-F17E3CD14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Elementi grafici, grafica, Carattere, schermata&#10;&#10;Il contenuto generato dall'IA potrebbe non essere corretto.">
            <a:extLst>
              <a:ext uri="{FF2B5EF4-FFF2-40B4-BE49-F238E27FC236}">
                <a16:creationId xmlns:a16="http://schemas.microsoft.com/office/drawing/2014/main" id="{7ECAFA86-F849-3368-50DD-83C62EBAC2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11" b="245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239E585B-6E63-79CA-2F9C-E8127F41C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2941" y="85111"/>
            <a:ext cx="837923" cy="830998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9176C901-981E-43A9-DBFB-39F212B833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03019" y="5904405"/>
            <a:ext cx="1932737" cy="1062365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9BC1CA17-A0AC-828C-1CE0-8B6F837F2D16}"/>
              </a:ext>
            </a:extLst>
          </p:cNvPr>
          <p:cNvSpPr txBox="1"/>
          <p:nvPr/>
        </p:nvSpPr>
        <p:spPr>
          <a:xfrm>
            <a:off x="5791036" y="6332351"/>
            <a:ext cx="66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6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C3AF8B38-AB7E-58CC-01E4-0AA8E3260DF5}"/>
              </a:ext>
            </a:extLst>
          </p:cNvPr>
          <p:cNvSpPr txBox="1"/>
          <p:nvPr/>
        </p:nvSpPr>
        <p:spPr>
          <a:xfrm>
            <a:off x="10453511" y="6234773"/>
            <a:ext cx="1580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i="1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Diego Miccoli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10FCE397-4E0F-5C9E-B656-1C49F9E39F98}"/>
              </a:ext>
            </a:extLst>
          </p:cNvPr>
          <p:cNvSpPr txBox="1"/>
          <p:nvPr/>
        </p:nvSpPr>
        <p:spPr>
          <a:xfrm>
            <a:off x="1547988" y="244001"/>
            <a:ext cx="91092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In mano a chi è il mercato discografico?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51DCB86E-6381-2254-21D7-493CCE7B4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9" y="85111"/>
            <a:ext cx="837922" cy="830997"/>
          </a:xfrm>
          <a:prstGeom prst="rect">
            <a:avLst/>
          </a:prstGeom>
        </p:spPr>
      </p:pic>
      <p:pic>
        <p:nvPicPr>
          <p:cNvPr id="7" name="Immagine 6" descr="Immagine che contiene schermata, testo, linea&#10;&#10;Il contenuto generato dall'IA potrebbe non essere corretto.">
            <a:extLst>
              <a:ext uri="{FF2B5EF4-FFF2-40B4-BE49-F238E27FC236}">
                <a16:creationId xmlns:a16="http://schemas.microsoft.com/office/drawing/2014/main" id="{735630B8-9D28-ACCD-4842-BCE8468E9B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464" y="810972"/>
            <a:ext cx="10377071" cy="5236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996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151E16-4CDB-7F68-E017-9D89BCA60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6FB045B-3176-2599-00F5-CB42E91F7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grpSp>
        <p:nvGrpSpPr>
          <p:cNvPr id="4" name="Gruppo 3">
            <a:extLst>
              <a:ext uri="{FF2B5EF4-FFF2-40B4-BE49-F238E27FC236}">
                <a16:creationId xmlns:a16="http://schemas.microsoft.com/office/drawing/2014/main" id="{22F2C5E1-CB9A-DB31-8C17-D5D5FEFAA3D4}"/>
              </a:ext>
            </a:extLst>
          </p:cNvPr>
          <p:cNvGrpSpPr/>
          <p:nvPr/>
        </p:nvGrpSpPr>
        <p:grpSpPr>
          <a:xfrm>
            <a:off x="0" y="-3918"/>
            <a:ext cx="12192000" cy="6858000"/>
            <a:chOff x="0" y="0"/>
            <a:chExt cx="12192000" cy="6858000"/>
          </a:xfrm>
        </p:grpSpPr>
        <p:sp>
          <p:nvSpPr>
            <p:cNvPr id="5" name="Rettangolo 4">
              <a:extLst>
                <a:ext uri="{FF2B5EF4-FFF2-40B4-BE49-F238E27FC236}">
                  <a16:creationId xmlns:a16="http://schemas.microsoft.com/office/drawing/2014/main" id="{4C66B27C-4863-B233-9962-027268A50C51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BD8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6" name="Immagine 5" descr="Immagine che contiene Elementi grafici, logo, verde, Carattere&#10;&#10;Il contenuto generato dall'IA potrebbe non essere corretto.">
              <a:extLst>
                <a:ext uri="{FF2B5EF4-FFF2-40B4-BE49-F238E27FC236}">
                  <a16:creationId xmlns:a16="http://schemas.microsoft.com/office/drawing/2014/main" id="{77197274-76E1-35F6-E4BE-00A8004388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649" r="3" b="3"/>
            <a:stretch>
              <a:fillRect/>
            </a:stretch>
          </p:blipFill>
          <p:spPr>
            <a:xfrm>
              <a:off x="2813750" y="1583080"/>
              <a:ext cx="6564500" cy="3691840"/>
            </a:xfrm>
            <a:prstGeom prst="rect">
              <a:avLst/>
            </a:prstGeom>
          </p:spPr>
        </p:pic>
      </p:grpSp>
      <p:pic>
        <p:nvPicPr>
          <p:cNvPr id="7" name="Immagine 6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6A790B42-636B-0750-35CD-AD46D49570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010" y="629773"/>
            <a:ext cx="9909499" cy="5719938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32957723-50FB-CB82-97BC-B4177C0B43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044" y="55365"/>
            <a:ext cx="837922" cy="830997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E54FE6EF-6F8B-0FEB-9EC2-6340F5DA7B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79800" y="55365"/>
            <a:ext cx="837922" cy="830997"/>
          </a:xfrm>
          <a:prstGeom prst="rect">
            <a:avLst/>
          </a:prstGeom>
        </p:spPr>
      </p:pic>
      <p:pic>
        <p:nvPicPr>
          <p:cNvPr id="10" name="Immagine 9" descr="Immagine che contiene cerchi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CC4C2E0C-9FE3-5D5B-106D-9D5611F4FD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981604"/>
            <a:ext cx="879676" cy="821031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41FD084-3042-A543-1A35-733B8419C57A}"/>
              </a:ext>
            </a:extLst>
          </p:cNvPr>
          <p:cNvSpPr txBox="1"/>
          <p:nvPr/>
        </p:nvSpPr>
        <p:spPr>
          <a:xfrm>
            <a:off x="5762978" y="6433765"/>
            <a:ext cx="66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7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1CFB681F-02AF-95F9-48AA-1B16837AE773}"/>
              </a:ext>
            </a:extLst>
          </p:cNvPr>
          <p:cNvSpPr txBox="1"/>
          <p:nvPr/>
        </p:nvSpPr>
        <p:spPr>
          <a:xfrm>
            <a:off x="10522101" y="6342111"/>
            <a:ext cx="1580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i="1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Diego Miccoli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E4B5E97-466F-B25A-7A68-C549F4B998E9}"/>
              </a:ext>
            </a:extLst>
          </p:cNvPr>
          <p:cNvSpPr txBox="1"/>
          <p:nvPr/>
        </p:nvSpPr>
        <p:spPr>
          <a:xfrm>
            <a:off x="1651424" y="84054"/>
            <a:ext cx="91092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Che produzione in termini di brani ha ogni genere?</a:t>
            </a:r>
          </a:p>
        </p:txBody>
      </p:sp>
    </p:spTree>
    <p:extLst>
      <p:ext uri="{BB962C8B-B14F-4D97-AF65-F5344CB8AC3E}">
        <p14:creationId xmlns:p14="http://schemas.microsoft.com/office/powerpoint/2010/main" val="4126932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90DAC-FFDC-8FE4-6186-03F66FEAB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Carattere, logo, Elementi grafici, simbolo&#10;&#10;Il contenuto generato dall'IA potrebbe non essere corretto.">
            <a:extLst>
              <a:ext uri="{FF2B5EF4-FFF2-40B4-BE49-F238E27FC236}">
                <a16:creationId xmlns:a16="http://schemas.microsoft.com/office/drawing/2014/main" id="{B6535560-67F1-90E1-2A6A-C84741E26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8548" y="2456436"/>
            <a:ext cx="2903175" cy="972564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2D056886-7450-9634-0746-984CE7A38F3A}"/>
              </a:ext>
            </a:extLst>
          </p:cNvPr>
          <p:cNvSpPr txBox="1"/>
          <p:nvPr/>
        </p:nvSpPr>
        <p:spPr>
          <a:xfrm>
            <a:off x="5762977" y="6404963"/>
            <a:ext cx="66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>
                <a:latin typeface="Baskerville" panose="02020502070401020303" pitchFamily="18" charset="0"/>
                <a:ea typeface="Baskerville" panose="02020502070401020303" pitchFamily="18" charset="0"/>
              </a:rPr>
              <a:t>8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62B3E671-CC4E-EEB1-C7EC-CC2EF90CC676}"/>
              </a:ext>
            </a:extLst>
          </p:cNvPr>
          <p:cNvSpPr txBox="1"/>
          <p:nvPr/>
        </p:nvSpPr>
        <p:spPr>
          <a:xfrm>
            <a:off x="10419641" y="6355643"/>
            <a:ext cx="1580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i="1" dirty="0">
                <a:latin typeface="Baskerville" panose="02020502070401020303" pitchFamily="18" charset="0"/>
                <a:ea typeface="Baskerville" panose="02020502070401020303" pitchFamily="18" charset="0"/>
              </a:rPr>
              <a:t>Diego Miccoli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99A658AB-5DCE-511E-F477-7D3CD148C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212" y="79203"/>
            <a:ext cx="837922" cy="830997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F664F9DB-84A8-1A40-0FD3-0DF73BAA1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009" y="79203"/>
            <a:ext cx="837922" cy="830997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5CCA1BD4-3E57-E146-A855-4A2936F8F4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932490"/>
            <a:ext cx="982134" cy="846307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49E3A019-63EA-3046-645A-7E69F9F092CA}"/>
              </a:ext>
            </a:extLst>
          </p:cNvPr>
          <p:cNvSpPr txBox="1"/>
          <p:nvPr/>
        </p:nvSpPr>
        <p:spPr>
          <a:xfrm>
            <a:off x="1778641" y="117069"/>
            <a:ext cx="88199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latin typeface="Baskerville" panose="02020502070401020303" pitchFamily="18" charset="0"/>
                <a:ea typeface="Baskerville" panose="02020502070401020303" pitchFamily="18" charset="0"/>
              </a:rPr>
              <a:t>In quali generi c’è più spazio per nuovi artisti?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31AD8B78-4D65-A3FC-6AAA-736BF262CF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4661" y="622486"/>
            <a:ext cx="9842675" cy="5733157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2A264FAE-08E2-7E38-1A69-243B658F9C22}"/>
              </a:ext>
            </a:extLst>
          </p:cNvPr>
          <p:cNvSpPr txBox="1"/>
          <p:nvPr/>
        </p:nvSpPr>
        <p:spPr>
          <a:xfrm>
            <a:off x="1121243" y="5897131"/>
            <a:ext cx="32308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Baskerville" panose="02020502070401020303" pitchFamily="18" charset="0"/>
                <a:ea typeface="Baskerville" panose="02020502070401020303" pitchFamily="18" charset="0"/>
              </a:rPr>
              <a:t>Best </a:t>
            </a:r>
            <a:r>
              <a:rPr lang="it-IT" dirty="0" err="1">
                <a:latin typeface="Baskerville" panose="02020502070401020303" pitchFamily="18" charset="0"/>
                <a:ea typeface="Baskerville" panose="02020502070401020303" pitchFamily="18" charset="0"/>
              </a:rPr>
              <a:t>gradient</a:t>
            </a:r>
            <a:r>
              <a:rPr lang="it-IT" dirty="0">
                <a:latin typeface="Baskerville" panose="02020502070401020303" pitchFamily="18" charset="0"/>
                <a:ea typeface="Baskerville" panose="02020502070401020303" pitchFamily="18" charset="0"/>
              </a:rPr>
              <a:t> scale per daltonici: Arancio - Grigio - Blu</a:t>
            </a:r>
          </a:p>
        </p:txBody>
      </p:sp>
    </p:spTree>
    <p:extLst>
      <p:ext uri="{BB962C8B-B14F-4D97-AF65-F5344CB8AC3E}">
        <p14:creationId xmlns:p14="http://schemas.microsoft.com/office/powerpoint/2010/main" val="2992330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D097A-23E0-0615-A9B2-AEEEBD3CB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Elementi grafici, grafica, Carattere, schermata&#10;&#10;Il contenuto generato dall'IA potrebbe non essere corretto.">
            <a:extLst>
              <a:ext uri="{FF2B5EF4-FFF2-40B4-BE49-F238E27FC236}">
                <a16:creationId xmlns:a16="http://schemas.microsoft.com/office/drawing/2014/main" id="{3EA4FFBC-5665-8A8B-6594-F49BE49AA1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11" b="245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45B82C5B-AB4D-BE3A-3E80-4D87A5B0D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2941" y="85111"/>
            <a:ext cx="837923" cy="830998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F5E42329-83BF-9410-D1ED-6E55E2C3D2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03019" y="5904405"/>
            <a:ext cx="1932737" cy="1062365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DF4F053A-A348-D408-60AF-5EE547566E59}"/>
              </a:ext>
            </a:extLst>
          </p:cNvPr>
          <p:cNvSpPr txBox="1"/>
          <p:nvPr/>
        </p:nvSpPr>
        <p:spPr>
          <a:xfrm>
            <a:off x="5791036" y="6332351"/>
            <a:ext cx="66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9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C94EAD29-A340-47B7-6D08-C771EB838E96}"/>
              </a:ext>
            </a:extLst>
          </p:cNvPr>
          <p:cNvSpPr txBox="1"/>
          <p:nvPr/>
        </p:nvSpPr>
        <p:spPr>
          <a:xfrm>
            <a:off x="10453511" y="6234773"/>
            <a:ext cx="1580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i="1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Diego Miccoli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20F5905A-406B-31C8-E6F0-E85A50ACB485}"/>
              </a:ext>
            </a:extLst>
          </p:cNvPr>
          <p:cNvSpPr txBox="1"/>
          <p:nvPr/>
        </p:nvSpPr>
        <p:spPr>
          <a:xfrm>
            <a:off x="1547988" y="244001"/>
            <a:ext cx="91092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I generi nei quali pensiamo di entrare sono attivi?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8C2A0A69-B354-DF1B-6DD9-49DA5E4A1F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9" y="85111"/>
            <a:ext cx="837922" cy="830997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FF9C4D1E-B636-C466-D586-D46534E0D3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193" y="740611"/>
            <a:ext cx="10277614" cy="549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395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D63C8-7C50-D196-7104-E4316E443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C390D9-D37F-38F9-1623-957815B2C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6E9FCA9-D651-BF28-7225-2432CD637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grpSp>
        <p:nvGrpSpPr>
          <p:cNvPr id="4" name="Gruppo 3">
            <a:extLst>
              <a:ext uri="{FF2B5EF4-FFF2-40B4-BE49-F238E27FC236}">
                <a16:creationId xmlns:a16="http://schemas.microsoft.com/office/drawing/2014/main" id="{66DCE035-0586-BAFE-E029-ADF495973D8E}"/>
              </a:ext>
            </a:extLst>
          </p:cNvPr>
          <p:cNvGrpSpPr/>
          <p:nvPr/>
        </p:nvGrpSpPr>
        <p:grpSpPr>
          <a:xfrm>
            <a:off x="0" y="-3918"/>
            <a:ext cx="12192000" cy="6858000"/>
            <a:chOff x="0" y="0"/>
            <a:chExt cx="12192000" cy="6858000"/>
          </a:xfrm>
        </p:grpSpPr>
        <p:sp>
          <p:nvSpPr>
            <p:cNvPr id="5" name="Rettangolo 4">
              <a:extLst>
                <a:ext uri="{FF2B5EF4-FFF2-40B4-BE49-F238E27FC236}">
                  <a16:creationId xmlns:a16="http://schemas.microsoft.com/office/drawing/2014/main" id="{554CF7B1-5168-25FC-CD6C-F85C3F08EF3B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BD8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6" name="Immagine 5" descr="Immagine che contiene Elementi grafici, logo, verde, Carattere&#10;&#10;Il contenuto generato dall'IA potrebbe non essere corretto.">
              <a:extLst>
                <a:ext uri="{FF2B5EF4-FFF2-40B4-BE49-F238E27FC236}">
                  <a16:creationId xmlns:a16="http://schemas.microsoft.com/office/drawing/2014/main" id="{850F6FBC-1044-BE08-B13F-B977CFEE04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649" r="3" b="3"/>
            <a:stretch>
              <a:fillRect/>
            </a:stretch>
          </p:blipFill>
          <p:spPr>
            <a:xfrm>
              <a:off x="2813750" y="1583080"/>
              <a:ext cx="6564500" cy="3691840"/>
            </a:xfrm>
            <a:prstGeom prst="rect">
              <a:avLst/>
            </a:prstGeom>
          </p:spPr>
        </p:pic>
      </p:grpSp>
      <p:pic>
        <p:nvPicPr>
          <p:cNvPr id="8" name="Immagine 7">
            <a:extLst>
              <a:ext uri="{FF2B5EF4-FFF2-40B4-BE49-F238E27FC236}">
                <a16:creationId xmlns:a16="http://schemas.microsoft.com/office/drawing/2014/main" id="{393693E3-B96C-1ECD-F48B-9CEC6ADC98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044" y="55365"/>
            <a:ext cx="837922" cy="830997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991A18E7-A9F8-27C1-F3B6-AB84A98D9F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9800" y="55365"/>
            <a:ext cx="837922" cy="830997"/>
          </a:xfrm>
          <a:prstGeom prst="rect">
            <a:avLst/>
          </a:prstGeom>
        </p:spPr>
      </p:pic>
      <p:pic>
        <p:nvPicPr>
          <p:cNvPr id="10" name="Immagine 9" descr="Immagine che contiene cerchi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42878BEA-F0C4-5841-9239-BB342A1678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981604"/>
            <a:ext cx="879676" cy="821031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76767BA-950D-66E9-9791-4F0CD4816F23}"/>
              </a:ext>
            </a:extLst>
          </p:cNvPr>
          <p:cNvSpPr txBox="1"/>
          <p:nvPr/>
        </p:nvSpPr>
        <p:spPr>
          <a:xfrm>
            <a:off x="5762978" y="6433765"/>
            <a:ext cx="66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10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341323E-5697-E124-CC2D-7A1ED99A4C4B}"/>
              </a:ext>
            </a:extLst>
          </p:cNvPr>
          <p:cNvSpPr txBox="1"/>
          <p:nvPr/>
        </p:nvSpPr>
        <p:spPr>
          <a:xfrm>
            <a:off x="10522101" y="6342111"/>
            <a:ext cx="1580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i="1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Diego Miccoli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E7E360E-FCB2-CCD7-0C3F-8E7383E36597}"/>
              </a:ext>
            </a:extLst>
          </p:cNvPr>
          <p:cNvSpPr txBox="1"/>
          <p:nvPr/>
        </p:nvSpPr>
        <p:spPr>
          <a:xfrm>
            <a:off x="1651424" y="84054"/>
            <a:ext cx="91092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Una volta identificati i generi più proficui dove ci inseriamo?</a:t>
            </a: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04E7F6BF-E35C-2F4C-7540-38A5F6887E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624" y="1027906"/>
            <a:ext cx="5802403" cy="4726540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3E913C8D-1FF4-F3C1-8C87-B2350124D1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2027" y="1027906"/>
            <a:ext cx="5955695" cy="4726540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E2648185-E746-441E-4695-9474B42C0352}"/>
              </a:ext>
            </a:extLst>
          </p:cNvPr>
          <p:cNvSpPr txBox="1"/>
          <p:nvPr/>
        </p:nvSpPr>
        <p:spPr>
          <a:xfrm>
            <a:off x="1482338" y="5939494"/>
            <a:ext cx="31251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solidFill>
                  <a:schemeClr val="bg1"/>
                </a:solidFill>
                <a:latin typeface="Baskerville SemiBold" panose="02020502070401020303" pitchFamily="18" charset="0"/>
                <a:ea typeface="Baskerville SemiBold" panose="02020502070401020303" pitchFamily="18" charset="0"/>
              </a:rPr>
              <a:t>Dark R&amp;B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CAE33B6A-3143-B96D-B8C6-A0E415CB270B}"/>
              </a:ext>
            </a:extLst>
          </p:cNvPr>
          <p:cNvSpPr txBox="1"/>
          <p:nvPr/>
        </p:nvSpPr>
        <p:spPr>
          <a:xfrm>
            <a:off x="7225310" y="5976908"/>
            <a:ext cx="31251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solidFill>
                  <a:schemeClr val="bg1"/>
                </a:solidFill>
                <a:latin typeface="Baskerville SemiBold" panose="02020502070401020303" pitchFamily="18" charset="0"/>
                <a:ea typeface="Baskerville SemiBold" panose="02020502070401020303" pitchFamily="18" charset="0"/>
              </a:rPr>
              <a:t>Indi Joy Rock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13E8ACF6-2493-5F4D-4B18-4527E9340489}"/>
              </a:ext>
            </a:extLst>
          </p:cNvPr>
          <p:cNvSpPr txBox="1"/>
          <p:nvPr/>
        </p:nvSpPr>
        <p:spPr>
          <a:xfrm>
            <a:off x="2387202" y="658500"/>
            <a:ext cx="8187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bg1"/>
                </a:solidFill>
                <a:latin typeface="Baskerville SemiBold" panose="02020502070401020303" pitchFamily="18" charset="0"/>
                <a:ea typeface="Baskerville SemiBold" panose="02020502070401020303" pitchFamily="18" charset="0"/>
              </a:rPr>
              <a:t>Il Positioning Effettuato sul  Modello Circonflesso delle Emozioni</a:t>
            </a:r>
          </a:p>
        </p:txBody>
      </p:sp>
    </p:spTree>
    <p:extLst>
      <p:ext uri="{BB962C8B-B14F-4D97-AF65-F5344CB8AC3E}">
        <p14:creationId xmlns:p14="http://schemas.microsoft.com/office/powerpoint/2010/main" val="14293738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C473B-67E8-4BB0-D07C-6D071D775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Carattere, logo, Elementi grafici, simbolo&#10;&#10;Il contenuto generato dall'IA potrebbe non essere corretto.">
            <a:extLst>
              <a:ext uri="{FF2B5EF4-FFF2-40B4-BE49-F238E27FC236}">
                <a16:creationId xmlns:a16="http://schemas.microsoft.com/office/drawing/2014/main" id="{681CC786-984C-0693-D135-1335C14C8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8548" y="2456436"/>
            <a:ext cx="2903175" cy="972564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4A4D14EA-3ECE-A00C-143B-A8EE8C310A2A}"/>
              </a:ext>
            </a:extLst>
          </p:cNvPr>
          <p:cNvSpPr txBox="1"/>
          <p:nvPr/>
        </p:nvSpPr>
        <p:spPr>
          <a:xfrm>
            <a:off x="10419641" y="6355643"/>
            <a:ext cx="1580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i="1" dirty="0">
                <a:latin typeface="Baskerville" panose="02020502070401020303" pitchFamily="18" charset="0"/>
                <a:ea typeface="Baskerville" panose="02020502070401020303" pitchFamily="18" charset="0"/>
              </a:rPr>
              <a:t>Diego Miccoli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04E84ABC-1B87-5E40-5B77-227EEAAFE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212" y="79203"/>
            <a:ext cx="837922" cy="830997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E0DC9037-25BD-ED51-4214-796ACBE13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009" y="79203"/>
            <a:ext cx="837922" cy="830997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93437306-7DDA-4790-5AF4-D9F9F5DD5C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932490"/>
            <a:ext cx="982134" cy="846307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BBA67518-F6E7-9DF9-99BE-24D3E186BFCB}"/>
              </a:ext>
            </a:extLst>
          </p:cNvPr>
          <p:cNvSpPr txBox="1"/>
          <p:nvPr/>
        </p:nvSpPr>
        <p:spPr>
          <a:xfrm>
            <a:off x="1012567" y="224132"/>
            <a:ext cx="10197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latin typeface="Baskerville" panose="02020502070401020303" pitchFamily="18" charset="0"/>
                <a:ea typeface="Baskerville" panose="02020502070401020303" pitchFamily="18" charset="0"/>
              </a:rPr>
              <a:t>Come deve suonare tecnicamente un brano per essere competitivo?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6CF5C38-24A3-834B-B296-1884E6293BA5}"/>
              </a:ext>
            </a:extLst>
          </p:cNvPr>
          <p:cNvSpPr txBox="1"/>
          <p:nvPr/>
        </p:nvSpPr>
        <p:spPr>
          <a:xfrm>
            <a:off x="5762977" y="6404963"/>
            <a:ext cx="66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>
                <a:latin typeface="Baskerville" panose="02020502070401020303" pitchFamily="18" charset="0"/>
                <a:ea typeface="Baskerville" panose="02020502070401020303" pitchFamily="18" charset="0"/>
              </a:rPr>
              <a:t>11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925B5913-83E6-0E96-BC1A-7A3F0B32E9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4739" y="685797"/>
            <a:ext cx="6652951" cy="578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404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B2F24-03BC-9A00-B8E5-E70338CF6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Elementi grafici, grafica, Carattere, schermata&#10;&#10;Il contenuto generato dall'IA potrebbe non essere corretto.">
            <a:extLst>
              <a:ext uri="{FF2B5EF4-FFF2-40B4-BE49-F238E27FC236}">
                <a16:creationId xmlns:a16="http://schemas.microsoft.com/office/drawing/2014/main" id="{CE26BE85-3797-0EC8-8223-DAC75A1170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11" b="2456"/>
          <a:stretch>
            <a:fillRect/>
          </a:stretch>
        </p:blipFill>
        <p:spPr>
          <a:xfrm>
            <a:off x="-31116" y="8743"/>
            <a:ext cx="12191980" cy="6856718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C3FB145B-D301-4EA6-ED6E-CA4CB4661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2941" y="85111"/>
            <a:ext cx="837923" cy="830998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E0C4E9BE-D6FE-2077-0B52-0B4E54AB16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03019" y="5904405"/>
            <a:ext cx="1932737" cy="1062365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831D94EA-5BC1-7CD0-66DA-3F40ABC46BD5}"/>
              </a:ext>
            </a:extLst>
          </p:cNvPr>
          <p:cNvSpPr txBox="1"/>
          <p:nvPr/>
        </p:nvSpPr>
        <p:spPr>
          <a:xfrm>
            <a:off x="5762968" y="6445865"/>
            <a:ext cx="66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12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7F91D3DF-B7A5-8023-F67C-06A17CEF9BF0}"/>
              </a:ext>
            </a:extLst>
          </p:cNvPr>
          <p:cNvSpPr txBox="1"/>
          <p:nvPr/>
        </p:nvSpPr>
        <p:spPr>
          <a:xfrm>
            <a:off x="10405863" y="6340124"/>
            <a:ext cx="1580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i="1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Diego Miccoli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90C8BE63-1230-82D8-2EAF-8AC9F7526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9" y="85111"/>
            <a:ext cx="837922" cy="830997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1CE6F2F3-870B-C1ED-EA76-F0E86EF0FBC8}"/>
              </a:ext>
            </a:extLst>
          </p:cNvPr>
          <p:cNvSpPr txBox="1"/>
          <p:nvPr/>
        </p:nvSpPr>
        <p:spPr>
          <a:xfrm>
            <a:off x="1094529" y="89668"/>
            <a:ext cx="10197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Come deve suonare tecnicamente un brano per essere competitivo?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3119C69B-3855-8AE5-62BE-6B09FBF9D4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5330" y="588944"/>
            <a:ext cx="9502815" cy="5437352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0BF68DB9-CAC8-261C-10B1-37680F43CDAF}"/>
              </a:ext>
            </a:extLst>
          </p:cNvPr>
          <p:cNvSpPr txBox="1"/>
          <p:nvPr/>
        </p:nvSpPr>
        <p:spPr>
          <a:xfrm>
            <a:off x="1238113" y="6026296"/>
            <a:ext cx="9797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Confrontando le tendenze con l’impronta digitale precedente il Dark R&amp;B anticiperebbe le tendenze che qui vediamo in particolare su </a:t>
            </a:r>
            <a:r>
              <a:rPr lang="it-IT" sz="1600" dirty="0" err="1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valence</a:t>
            </a:r>
            <a:r>
              <a:rPr lang="it-IT" sz="1600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, </a:t>
            </a:r>
            <a:r>
              <a:rPr lang="it-IT" sz="1600" dirty="0" err="1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acoustines</a:t>
            </a:r>
            <a:r>
              <a:rPr lang="it-IT" sz="1600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e </a:t>
            </a:r>
            <a:r>
              <a:rPr lang="it-IT" sz="1600" dirty="0" err="1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speechness</a:t>
            </a:r>
            <a:endParaRPr lang="it-IT" sz="1600" dirty="0">
              <a:solidFill>
                <a:srgbClr val="1BD860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04921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466F7-01F8-27EF-3E3D-20A3440B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63D6F0-DBE4-8DB9-7236-91B7E75AC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BC525E0-BE06-C0ED-8F07-92DD126A78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grpSp>
        <p:nvGrpSpPr>
          <p:cNvPr id="4" name="Gruppo 3">
            <a:extLst>
              <a:ext uri="{FF2B5EF4-FFF2-40B4-BE49-F238E27FC236}">
                <a16:creationId xmlns:a16="http://schemas.microsoft.com/office/drawing/2014/main" id="{6A837BFA-C289-57D0-4B00-B460743834F0}"/>
              </a:ext>
            </a:extLst>
          </p:cNvPr>
          <p:cNvGrpSpPr/>
          <p:nvPr/>
        </p:nvGrpSpPr>
        <p:grpSpPr>
          <a:xfrm>
            <a:off x="0" y="-3918"/>
            <a:ext cx="12192000" cy="6858000"/>
            <a:chOff x="0" y="0"/>
            <a:chExt cx="12192000" cy="6858000"/>
          </a:xfrm>
        </p:grpSpPr>
        <p:sp>
          <p:nvSpPr>
            <p:cNvPr id="5" name="Rettangolo 4">
              <a:extLst>
                <a:ext uri="{FF2B5EF4-FFF2-40B4-BE49-F238E27FC236}">
                  <a16:creationId xmlns:a16="http://schemas.microsoft.com/office/drawing/2014/main" id="{989D2FB0-0CA8-5BBC-444F-33626A393F5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BD8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6" name="Immagine 5" descr="Immagine che contiene Elementi grafici, logo, verde, Carattere&#10;&#10;Il contenuto generato dall'IA potrebbe non essere corretto.">
              <a:extLst>
                <a:ext uri="{FF2B5EF4-FFF2-40B4-BE49-F238E27FC236}">
                  <a16:creationId xmlns:a16="http://schemas.microsoft.com/office/drawing/2014/main" id="{45ECE0F4-C062-C39B-A54B-EBBFAD6DB7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649" r="3" b="3"/>
            <a:stretch>
              <a:fillRect/>
            </a:stretch>
          </p:blipFill>
          <p:spPr>
            <a:xfrm>
              <a:off x="2813750" y="1583080"/>
              <a:ext cx="6564500" cy="3691840"/>
            </a:xfrm>
            <a:prstGeom prst="rect">
              <a:avLst/>
            </a:prstGeom>
          </p:spPr>
        </p:pic>
      </p:grpSp>
      <p:pic>
        <p:nvPicPr>
          <p:cNvPr id="8" name="Immagine 7">
            <a:extLst>
              <a:ext uri="{FF2B5EF4-FFF2-40B4-BE49-F238E27FC236}">
                <a16:creationId xmlns:a16="http://schemas.microsoft.com/office/drawing/2014/main" id="{8BCA0877-68D5-BDF4-1BD8-0F5B49E021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044" y="55365"/>
            <a:ext cx="837922" cy="830997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7EE99079-0CC4-B7E6-A169-152B273BBD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6034" y="57988"/>
            <a:ext cx="837922" cy="830997"/>
          </a:xfrm>
          <a:prstGeom prst="rect">
            <a:avLst/>
          </a:prstGeom>
        </p:spPr>
      </p:pic>
      <p:pic>
        <p:nvPicPr>
          <p:cNvPr id="10" name="Immagine 9" descr="Immagine che contiene cerchi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E7CDE7D5-8560-0278-03C0-B253115C98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981604"/>
            <a:ext cx="879676" cy="821031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5BBAE453-DCDD-3591-03A1-54521BA8D035}"/>
              </a:ext>
            </a:extLst>
          </p:cNvPr>
          <p:cNvSpPr txBox="1"/>
          <p:nvPr/>
        </p:nvSpPr>
        <p:spPr>
          <a:xfrm>
            <a:off x="5749474" y="6516261"/>
            <a:ext cx="66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13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7AF7554B-7138-234F-3B88-115DFF5E8E8D}"/>
              </a:ext>
            </a:extLst>
          </p:cNvPr>
          <p:cNvSpPr txBox="1"/>
          <p:nvPr/>
        </p:nvSpPr>
        <p:spPr>
          <a:xfrm>
            <a:off x="10522101" y="6342111"/>
            <a:ext cx="1580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i="1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Diego Miccoli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17E9E04B-3D76-2C97-BEDB-548B69310B88}"/>
              </a:ext>
            </a:extLst>
          </p:cNvPr>
          <p:cNvSpPr txBox="1"/>
          <p:nvPr/>
        </p:nvSpPr>
        <p:spPr>
          <a:xfrm>
            <a:off x="1066356" y="134292"/>
            <a:ext cx="10197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Come deve suonare tecnicamente un brano per essere competitivo?</a:t>
            </a: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688C559A-4047-B477-802D-09CAE57D78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422" y="705091"/>
            <a:ext cx="10015155" cy="564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1187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A836D-3E7F-E35B-B7E5-BCAE3E889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Carattere, logo, Elementi grafici, simbolo&#10;&#10;Il contenuto generato dall'IA potrebbe non essere corretto.">
            <a:extLst>
              <a:ext uri="{FF2B5EF4-FFF2-40B4-BE49-F238E27FC236}">
                <a16:creationId xmlns:a16="http://schemas.microsoft.com/office/drawing/2014/main" id="{058CB916-C926-7ADB-6CE2-581E1D2F9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8548" y="2456436"/>
            <a:ext cx="2903175" cy="972564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FE64160B-9076-DDFD-0C7B-05441FCA63B5}"/>
              </a:ext>
            </a:extLst>
          </p:cNvPr>
          <p:cNvSpPr txBox="1"/>
          <p:nvPr/>
        </p:nvSpPr>
        <p:spPr>
          <a:xfrm>
            <a:off x="5762977" y="6404963"/>
            <a:ext cx="66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>
                <a:latin typeface="Baskerville" panose="02020502070401020303" pitchFamily="18" charset="0"/>
                <a:ea typeface="Baskerville" panose="02020502070401020303" pitchFamily="18" charset="0"/>
              </a:rPr>
              <a:t>14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BB40061-553F-BFA5-C442-AE336199D127}"/>
              </a:ext>
            </a:extLst>
          </p:cNvPr>
          <p:cNvSpPr txBox="1"/>
          <p:nvPr/>
        </p:nvSpPr>
        <p:spPr>
          <a:xfrm>
            <a:off x="10419641" y="6355643"/>
            <a:ext cx="1580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i="1" dirty="0">
                <a:latin typeface="Baskerville" panose="02020502070401020303" pitchFamily="18" charset="0"/>
                <a:ea typeface="Baskerville" panose="02020502070401020303" pitchFamily="18" charset="0"/>
              </a:rPr>
              <a:t>Diego Miccoli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A850E67A-1A29-6DEF-A187-831275E39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32490"/>
            <a:ext cx="982134" cy="846307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AA9A9C5C-174B-2B33-1BA1-C75CF809EFB5}"/>
              </a:ext>
            </a:extLst>
          </p:cNvPr>
          <p:cNvSpPr txBox="1"/>
          <p:nvPr/>
        </p:nvSpPr>
        <p:spPr>
          <a:xfrm>
            <a:off x="997351" y="139620"/>
            <a:ext cx="10197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latin typeface="Baskerville" panose="02020502070401020303" pitchFamily="18" charset="0"/>
                <a:ea typeface="Baskerville" panose="02020502070401020303" pitchFamily="18" charset="0"/>
              </a:rPr>
              <a:t>Il linguaggio esplicito è un ostacolo alla diffusione radiofonica?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47522B6D-2152-0B1E-DF67-39F9BAFC39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7545" y="754868"/>
            <a:ext cx="10542951" cy="5447191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FDC0C205-27C2-C4DC-4EF9-A8779F2D53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8009" y="79203"/>
            <a:ext cx="837922" cy="830997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B83E063F-6DA8-AB54-CB66-E95D0CF8E9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06" y="79202"/>
            <a:ext cx="837922" cy="83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4770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9467B-EA70-2534-F47E-76C82301E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Elementi grafici, grafica, Carattere, schermata&#10;&#10;Il contenuto generato dall'IA potrebbe non essere corretto.">
            <a:extLst>
              <a:ext uri="{FF2B5EF4-FFF2-40B4-BE49-F238E27FC236}">
                <a16:creationId xmlns:a16="http://schemas.microsoft.com/office/drawing/2014/main" id="{82DB4CFF-A634-9A5A-9F72-BB57B947C5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11" b="2456"/>
          <a:stretch>
            <a:fillRect/>
          </a:stretch>
        </p:blipFill>
        <p:spPr>
          <a:xfrm>
            <a:off x="0" y="1282"/>
            <a:ext cx="12191980" cy="6856718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21615316-1871-0378-0B7F-491265A31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2941" y="85111"/>
            <a:ext cx="837923" cy="830998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B76B2DAE-91D6-C6A2-BA9B-9C3FEB9785E9}"/>
              </a:ext>
            </a:extLst>
          </p:cNvPr>
          <p:cNvSpPr txBox="1"/>
          <p:nvPr/>
        </p:nvSpPr>
        <p:spPr>
          <a:xfrm>
            <a:off x="5762968" y="6445865"/>
            <a:ext cx="66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15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77431A0D-E5DE-4530-D665-F9AE71C47C42}"/>
              </a:ext>
            </a:extLst>
          </p:cNvPr>
          <p:cNvSpPr txBox="1"/>
          <p:nvPr/>
        </p:nvSpPr>
        <p:spPr>
          <a:xfrm>
            <a:off x="10453511" y="6234773"/>
            <a:ext cx="1580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i="1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Diego Miccoli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44E84D5-297A-4790-3556-8E5D629B4B97}"/>
              </a:ext>
            </a:extLst>
          </p:cNvPr>
          <p:cNvSpPr txBox="1"/>
          <p:nvPr/>
        </p:nvSpPr>
        <p:spPr>
          <a:xfrm>
            <a:off x="1385330" y="130607"/>
            <a:ext cx="102038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Il linguaggio esplicito è un ostacolo alla diffusione radiofonica?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7034208A-4E30-5FA6-8035-7832FDEA66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9" y="85111"/>
            <a:ext cx="837922" cy="830997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9DD9B1C0-17CF-9CDA-E85F-14FF2C107A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2545" y="669634"/>
            <a:ext cx="7086890" cy="2890048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B50BAD61-F01E-8339-4C17-CD77405177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037" y="3559682"/>
            <a:ext cx="5292580" cy="2628684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D28096A1-E8B7-C3E4-F88F-47B7FEFB2F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3323" y="3559682"/>
            <a:ext cx="5593640" cy="2628684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713BD54D-459A-64F5-252A-D0EF8AB3FC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503019" y="5904405"/>
            <a:ext cx="1932737" cy="1062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9212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83104-5E90-01B6-09D7-E8525C2BA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C7BA012-B8B7-5577-9A70-748C5A850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15" name="Segnaposto contenuto 14">
            <a:extLst>
              <a:ext uri="{FF2B5EF4-FFF2-40B4-BE49-F238E27FC236}">
                <a16:creationId xmlns:a16="http://schemas.microsoft.com/office/drawing/2014/main" id="{2E382005-C055-3B7F-DDE0-F86599653C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86000" y="2032794"/>
            <a:ext cx="7620000" cy="3937000"/>
          </a:xfrm>
          <a:prstGeom prst="rect">
            <a:avLst/>
          </a:prstGeom>
        </p:spPr>
      </p:pic>
      <p:grpSp>
        <p:nvGrpSpPr>
          <p:cNvPr id="4" name="Gruppo 3">
            <a:extLst>
              <a:ext uri="{FF2B5EF4-FFF2-40B4-BE49-F238E27FC236}">
                <a16:creationId xmlns:a16="http://schemas.microsoft.com/office/drawing/2014/main" id="{4DFFA871-7BAA-8CA0-AEC2-8C9A49848575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5" name="Rettangolo 4">
              <a:extLst>
                <a:ext uri="{FF2B5EF4-FFF2-40B4-BE49-F238E27FC236}">
                  <a16:creationId xmlns:a16="http://schemas.microsoft.com/office/drawing/2014/main" id="{BF45CF6E-3254-44EF-AA97-F247BAD3D50D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BD8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6" name="Immagine 5" descr="Immagine che contiene Elementi grafici, logo, verde, Carattere&#10;&#10;Il contenuto generato dall'IA potrebbe non essere corretto.">
              <a:extLst>
                <a:ext uri="{FF2B5EF4-FFF2-40B4-BE49-F238E27FC236}">
                  <a16:creationId xmlns:a16="http://schemas.microsoft.com/office/drawing/2014/main" id="{76626CEE-3331-3D3F-DA25-D9BD5B2CA4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649" r="3" b="3"/>
            <a:stretch>
              <a:fillRect/>
            </a:stretch>
          </p:blipFill>
          <p:spPr>
            <a:xfrm>
              <a:off x="2650050" y="1285414"/>
              <a:ext cx="6564500" cy="3691840"/>
            </a:xfrm>
            <a:prstGeom prst="rect">
              <a:avLst/>
            </a:prstGeom>
          </p:spPr>
        </p:pic>
      </p:grpSp>
      <p:pic>
        <p:nvPicPr>
          <p:cNvPr id="8" name="Immagine 7">
            <a:extLst>
              <a:ext uri="{FF2B5EF4-FFF2-40B4-BE49-F238E27FC236}">
                <a16:creationId xmlns:a16="http://schemas.microsoft.com/office/drawing/2014/main" id="{F58FF469-61DE-00C4-B337-06F5C8908D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044" y="55365"/>
            <a:ext cx="837922" cy="830997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2C15DC9E-E05D-2FA3-EB20-C24799B3BE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6034" y="57988"/>
            <a:ext cx="837922" cy="830997"/>
          </a:xfrm>
          <a:prstGeom prst="rect">
            <a:avLst/>
          </a:prstGeom>
        </p:spPr>
      </p:pic>
      <p:pic>
        <p:nvPicPr>
          <p:cNvPr id="10" name="Immagine 9" descr="Immagine che contiene cerchi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D2E15DD1-D60E-40C6-5B65-B61B4435F3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1476" y="6028617"/>
            <a:ext cx="879676" cy="821031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4DB8AE1-B11D-E6E3-0A6B-B007859B254F}"/>
              </a:ext>
            </a:extLst>
          </p:cNvPr>
          <p:cNvSpPr txBox="1"/>
          <p:nvPr/>
        </p:nvSpPr>
        <p:spPr>
          <a:xfrm>
            <a:off x="5762978" y="6433765"/>
            <a:ext cx="66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16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8A730065-5881-E81A-24F3-BDA8DEFD58F2}"/>
              </a:ext>
            </a:extLst>
          </p:cNvPr>
          <p:cNvSpPr txBox="1"/>
          <p:nvPr/>
        </p:nvSpPr>
        <p:spPr>
          <a:xfrm>
            <a:off x="10522101" y="6342111"/>
            <a:ext cx="1580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i="1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Diego Miccoli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1A699A4C-FED2-3A80-8B6F-7657ADEF450D}"/>
              </a:ext>
            </a:extLst>
          </p:cNvPr>
          <p:cNvSpPr txBox="1"/>
          <p:nvPr/>
        </p:nvSpPr>
        <p:spPr>
          <a:xfrm>
            <a:off x="1385330" y="130607"/>
            <a:ext cx="102038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Il linguaggio esplicito è un ostacolo alla diffusione radiofonica?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4A22632B-CDB2-38E9-3C3C-581CD1C4D8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7442" y="758387"/>
            <a:ext cx="10073241" cy="5494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3055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F5C1A-89B9-1D48-A25D-DC5830E71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Carattere, logo, Elementi grafici, simbolo&#10;&#10;Il contenuto generato dall'IA potrebbe non essere corretto.">
            <a:extLst>
              <a:ext uri="{FF2B5EF4-FFF2-40B4-BE49-F238E27FC236}">
                <a16:creationId xmlns:a16="http://schemas.microsoft.com/office/drawing/2014/main" id="{E5FCD60F-309E-865A-B77E-B69DD5E4B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8548" y="2456436"/>
            <a:ext cx="2903175" cy="972564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881D118E-89D7-5EF8-0A42-DFDF1D80DDA6}"/>
              </a:ext>
            </a:extLst>
          </p:cNvPr>
          <p:cNvSpPr txBox="1"/>
          <p:nvPr/>
        </p:nvSpPr>
        <p:spPr>
          <a:xfrm>
            <a:off x="5762977" y="6404963"/>
            <a:ext cx="66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>
                <a:latin typeface="Baskerville" panose="02020502070401020303" pitchFamily="18" charset="0"/>
                <a:ea typeface="Baskerville" panose="02020502070401020303" pitchFamily="18" charset="0"/>
              </a:rPr>
              <a:t>17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080CFC9-BDCD-1544-8830-D367DC949E61}"/>
              </a:ext>
            </a:extLst>
          </p:cNvPr>
          <p:cNvSpPr txBox="1"/>
          <p:nvPr/>
        </p:nvSpPr>
        <p:spPr>
          <a:xfrm>
            <a:off x="10419641" y="6355643"/>
            <a:ext cx="1580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i="1" dirty="0">
                <a:latin typeface="Baskerville" panose="02020502070401020303" pitchFamily="18" charset="0"/>
                <a:ea typeface="Baskerville" panose="02020502070401020303" pitchFamily="18" charset="0"/>
              </a:rPr>
              <a:t>Diego Miccoli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B8B32A45-7482-B0A3-050D-80E7DFE87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212" y="79203"/>
            <a:ext cx="837922" cy="830997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260229AB-DD8E-0E83-DC70-85DA19CC8B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932490"/>
            <a:ext cx="982134" cy="846307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BACB6120-E08C-A7FB-1123-380076FAB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009" y="79203"/>
            <a:ext cx="837922" cy="830997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FD09FA56-9016-95E9-6E08-BCEE4C4EAB0D}"/>
              </a:ext>
            </a:extLst>
          </p:cNvPr>
          <p:cNvSpPr txBox="1"/>
          <p:nvPr/>
        </p:nvSpPr>
        <p:spPr>
          <a:xfrm>
            <a:off x="1006058" y="263868"/>
            <a:ext cx="102038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2400" b="1" dirty="0">
                <a:latin typeface="Baskerville" panose="02020502070401020303" pitchFamily="18" charset="0"/>
                <a:ea typeface="Baskerville" panose="02020502070401020303" pitchFamily="18" charset="0"/>
              </a:rPr>
              <a:t>Esistono tonalità o ritmi che producono hit con maggiore frequenza?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DDADA3D0-4CBF-43B6-2AD8-DFDDBE3C8C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763" y="1094865"/>
            <a:ext cx="6514960" cy="2961345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791DF21A-641A-8170-A398-0B9DF33586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575" y="1021647"/>
            <a:ext cx="10946850" cy="4975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8697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B3DAE-B36B-CBFF-CBF8-2C229BF15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Elementi grafici, grafica, Carattere, schermata&#10;&#10;Il contenuto generato dall'IA potrebbe non essere corretto.">
            <a:extLst>
              <a:ext uri="{FF2B5EF4-FFF2-40B4-BE49-F238E27FC236}">
                <a16:creationId xmlns:a16="http://schemas.microsoft.com/office/drawing/2014/main" id="{DF5CC8D3-7608-206C-7B8E-367831567B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11" b="2456"/>
          <a:stretch>
            <a:fillRect/>
          </a:stretch>
        </p:blipFill>
        <p:spPr>
          <a:xfrm>
            <a:off x="-1" y="0"/>
            <a:ext cx="12191980" cy="6856718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57362C05-6E85-7E2A-815A-1859A3622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3733" y="49806"/>
            <a:ext cx="837923" cy="830998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E6BAE67D-2DC5-F4CB-A03F-3F1100DAED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52390" y="5876192"/>
            <a:ext cx="1932737" cy="1062365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5170C91B-5EDF-E964-BA60-A35D31D13CEB}"/>
              </a:ext>
            </a:extLst>
          </p:cNvPr>
          <p:cNvSpPr txBox="1"/>
          <p:nvPr/>
        </p:nvSpPr>
        <p:spPr>
          <a:xfrm>
            <a:off x="5762967" y="6266084"/>
            <a:ext cx="66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18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0CDC56F3-7F04-E237-0995-43C325BC2485}"/>
              </a:ext>
            </a:extLst>
          </p:cNvPr>
          <p:cNvSpPr txBox="1"/>
          <p:nvPr/>
        </p:nvSpPr>
        <p:spPr>
          <a:xfrm>
            <a:off x="10453511" y="6234773"/>
            <a:ext cx="1580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i="1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Diego Miccoli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E3BB983A-E220-0418-3C02-9421D89AD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44" y="103547"/>
            <a:ext cx="837922" cy="830997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843C92AC-9AB3-F192-2FA8-2DBB0E961EA9}"/>
              </a:ext>
            </a:extLst>
          </p:cNvPr>
          <p:cNvSpPr txBox="1"/>
          <p:nvPr/>
        </p:nvSpPr>
        <p:spPr>
          <a:xfrm>
            <a:off x="1060024" y="351583"/>
            <a:ext cx="10113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2400" b="1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Esistono tonalità o ritmi che producono hit con maggiore frequenza?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636862DD-D381-DD31-70F5-1C0EEE5AA7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575" y="1021647"/>
            <a:ext cx="10946850" cy="4975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4606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E8C32-F654-D75B-DC61-CC04DA990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Carattere, logo, Elementi grafici, simbolo&#10;&#10;Il contenuto generato dall'IA potrebbe non essere corretto.">
            <a:extLst>
              <a:ext uri="{FF2B5EF4-FFF2-40B4-BE49-F238E27FC236}">
                <a16:creationId xmlns:a16="http://schemas.microsoft.com/office/drawing/2014/main" id="{FEB7742F-9720-DC1F-3C4E-B26C0712C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9897" y="5015362"/>
            <a:ext cx="2564006" cy="858942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F1B81DBF-03B8-2DA3-7932-6FA69AD08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5776" y="4788260"/>
            <a:ext cx="1580445" cy="1567383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FEED2E62-ABB4-8F45-F830-B42FC9264B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4740" y="5874304"/>
            <a:ext cx="1117182" cy="962679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6B81D059-1762-6931-2980-12118CB931E4}"/>
              </a:ext>
            </a:extLst>
          </p:cNvPr>
          <p:cNvSpPr txBox="1"/>
          <p:nvPr/>
        </p:nvSpPr>
        <p:spPr>
          <a:xfrm>
            <a:off x="5762977" y="6355643"/>
            <a:ext cx="66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>
                <a:latin typeface="Baskerville" panose="02020502070401020303" pitchFamily="18" charset="0"/>
                <a:ea typeface="Baskerville" panose="02020502070401020303" pitchFamily="18" charset="0"/>
              </a:rPr>
              <a:t>19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68AA7E0A-6C3F-D34F-D8BA-EA070D64A401}"/>
              </a:ext>
            </a:extLst>
          </p:cNvPr>
          <p:cNvSpPr txBox="1"/>
          <p:nvPr/>
        </p:nvSpPr>
        <p:spPr>
          <a:xfrm>
            <a:off x="10453511" y="6234773"/>
            <a:ext cx="1580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i="1" dirty="0">
                <a:latin typeface="Baskerville" panose="02020502070401020303" pitchFamily="18" charset="0"/>
                <a:ea typeface="Baskerville" panose="02020502070401020303" pitchFamily="18" charset="0"/>
              </a:rPr>
              <a:t>Diego Miccoli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9FF3ACAF-3094-0A22-6C2B-E08ACFF95C86}"/>
              </a:ext>
            </a:extLst>
          </p:cNvPr>
          <p:cNvSpPr txBox="1"/>
          <p:nvPr/>
        </p:nvSpPr>
        <p:spPr>
          <a:xfrm>
            <a:off x="1447692" y="196277"/>
            <a:ext cx="91704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latin typeface="Baskerville" panose="02020502070401020303" pitchFamily="18" charset="0"/>
                <a:ea typeface="Baskerville" panose="02020502070401020303" pitchFamily="18" charset="0"/>
              </a:rPr>
              <a:t>Conclusioni sul Progetto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48CD35C-D7AB-4C0C-5AB0-B598FD327968}"/>
              </a:ext>
            </a:extLst>
          </p:cNvPr>
          <p:cNvSpPr txBox="1"/>
          <p:nvPr/>
        </p:nvSpPr>
        <p:spPr>
          <a:xfrm>
            <a:off x="882820" y="2014312"/>
            <a:ext cx="1063728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latin typeface="Baskerville SemiBold" panose="02020502070401020303" pitchFamily="18" charset="0"/>
                <a:ea typeface="Baskerville SemiBold" panose="02020502070401020303" pitchFamily="18" charset="0"/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600" b="1" dirty="0">
                <a:latin typeface="Baskerville SemiBold" panose="02020502070401020303" pitchFamily="18" charset="0"/>
                <a:ea typeface="Baskerville SemiBold" panose="02020502070401020303" pitchFamily="18" charset="0"/>
              </a:rPr>
              <a:t>TREND → energy, </a:t>
            </a:r>
            <a:r>
              <a:rPr lang="it-IT" sz="1600" b="1" dirty="0" err="1">
                <a:latin typeface="Baskerville SemiBold" panose="02020502070401020303" pitchFamily="18" charset="0"/>
                <a:ea typeface="Baskerville SemiBold" panose="02020502070401020303" pitchFamily="18" charset="0"/>
              </a:rPr>
              <a:t>danceability</a:t>
            </a:r>
            <a:r>
              <a:rPr lang="it-IT" sz="1600" b="1" dirty="0">
                <a:latin typeface="Baskerville SemiBold" panose="02020502070401020303" pitchFamily="18" charset="0"/>
                <a:ea typeface="Baskerville SemiBold" panose="02020502070401020303" pitchFamily="18" charset="0"/>
              </a:rPr>
              <a:t> e loudness in crescita e </a:t>
            </a:r>
            <a:r>
              <a:rPr lang="it-IT" sz="1600" b="1" dirty="0" err="1">
                <a:latin typeface="Baskerville SemiBold" panose="02020502070401020303" pitchFamily="18" charset="0"/>
                <a:ea typeface="Baskerville SemiBold" panose="02020502070401020303" pitchFamily="18" charset="0"/>
              </a:rPr>
              <a:t>valence</a:t>
            </a:r>
            <a:r>
              <a:rPr lang="it-IT" sz="1600" b="1" dirty="0">
                <a:latin typeface="Baskerville SemiBold" panose="02020502070401020303" pitchFamily="18" charset="0"/>
                <a:ea typeface="Baskerville SemiBold" panose="02020502070401020303" pitchFamily="18" charset="0"/>
              </a:rPr>
              <a:t> in decrescita 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600" b="1" dirty="0">
                <a:latin typeface="Baskerville SemiBold" panose="02020502070401020303" pitchFamily="18" charset="0"/>
                <a:ea typeface="Baskerville SemiBold" panose="02020502070401020303" pitchFamily="18" charset="0"/>
              </a:rPr>
              <a:t>COMPETITORS → abbiamo individuato i Big da evitare  e i competitor da battere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600" b="1" dirty="0">
                <a:latin typeface="Baskerville SemiBold" panose="02020502070401020303" pitchFamily="18" charset="0"/>
                <a:ea typeface="Baskerville SemiBold" panose="02020502070401020303" pitchFamily="18" charset="0"/>
              </a:rPr>
              <a:t>POSITIONING  → abbiamo selezionato i generi più promettenti R&amp;B e Rock e per entrambi abbiamo trovato un possibile inserimento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600" b="1" dirty="0">
                <a:latin typeface="Baskerville SemiBold" panose="02020502070401020303" pitchFamily="18" charset="0"/>
                <a:ea typeface="Baskerville SemiBold" panose="02020502070401020303" pitchFamily="18" charset="0"/>
              </a:rPr>
              <a:t>PRODUCT → abbiamo cercato di comprendere come deve suonare il Dark R&amp;B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600" b="1" dirty="0">
                <a:latin typeface="Baskerville SemiBold" panose="02020502070401020303" pitchFamily="18" charset="0"/>
                <a:ea typeface="Baskerville SemiBold" panose="02020502070401020303" pitchFamily="18" charset="0"/>
              </a:rPr>
              <a:t>MARKETING → abbiamo compreso che l’uso di linguaggio esplicito favorisce l’artista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600" b="1" dirty="0">
                <a:latin typeface="Baskerville SemiBold" panose="02020502070401020303" pitchFamily="18" charset="0"/>
                <a:ea typeface="Baskerville SemiBold" panose="02020502070401020303" pitchFamily="18" charset="0"/>
              </a:rPr>
              <a:t>DETAILS → infine abbiamo stretto il cerchio su le composizioni più promettenti per ritmo e tonalità</a:t>
            </a: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86646062-F34D-F372-4982-26CFB3849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3254" y="81097"/>
            <a:ext cx="970702" cy="962679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65B5D5BA-4C16-E974-5075-D79A71907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1097"/>
            <a:ext cx="970702" cy="962679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5BC51B60-6C00-5B1B-EEC5-C6B2AF908B81}"/>
              </a:ext>
            </a:extLst>
          </p:cNvPr>
          <p:cNvSpPr txBox="1"/>
          <p:nvPr/>
        </p:nvSpPr>
        <p:spPr>
          <a:xfrm>
            <a:off x="898751" y="1092825"/>
            <a:ext cx="102683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1600" dirty="0">
                <a:latin typeface="Baskerville" panose="02020502070401020303" pitchFamily="18" charset="0"/>
                <a:ea typeface="Baskerville" panose="02020502070401020303" pitchFamily="18" charset="0"/>
              </a:rPr>
              <a:t>Tramite l’uso di tecniche di visualizzazione dei dati che rispettassero le idee di alcuni esperti del settore come B. </a:t>
            </a:r>
            <a:r>
              <a:rPr lang="it-IT" sz="16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Scheiderman</a:t>
            </a:r>
            <a:r>
              <a:rPr lang="it-IT" sz="1600" dirty="0">
                <a:latin typeface="Baskerville" panose="02020502070401020303" pitchFamily="18" charset="0"/>
                <a:ea typeface="Baskerville" panose="02020502070401020303" pitchFamily="18" charset="0"/>
              </a:rPr>
              <a:t>, E. </a:t>
            </a:r>
            <a:r>
              <a:rPr lang="it-IT" sz="16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Tufte</a:t>
            </a:r>
            <a:r>
              <a:rPr lang="it-IT" sz="1600" dirty="0">
                <a:latin typeface="Baskerville" panose="02020502070401020303" pitchFamily="18" charset="0"/>
                <a:ea typeface="Baskerville" panose="02020502070401020303" pitchFamily="18" charset="0"/>
              </a:rPr>
              <a:t>, </a:t>
            </a:r>
            <a:r>
              <a:rPr lang="it-IT" sz="16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J</a:t>
            </a:r>
            <a:r>
              <a:rPr lang="it-IT" sz="1600" dirty="0">
                <a:latin typeface="Baskerville" panose="02020502070401020303" pitchFamily="18" charset="0"/>
                <a:ea typeface="Baskerville" panose="02020502070401020303" pitchFamily="18" charset="0"/>
              </a:rPr>
              <a:t>. </a:t>
            </a:r>
            <a:r>
              <a:rPr lang="it-IT" sz="16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Schwabish</a:t>
            </a:r>
            <a:r>
              <a:rPr lang="it-IT" sz="1600" dirty="0">
                <a:latin typeface="Baskerville" panose="02020502070401020303" pitchFamily="18" charset="0"/>
                <a:ea typeface="Baskerville" panose="02020502070401020303" pitchFamily="18" charset="0"/>
              </a:rPr>
              <a:t> , T. </a:t>
            </a:r>
            <a:r>
              <a:rPr lang="it-IT" sz="16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Munzner</a:t>
            </a:r>
            <a:r>
              <a:rPr lang="it-IT" sz="1600" dirty="0">
                <a:latin typeface="Baskerville" panose="02020502070401020303" pitchFamily="18" charset="0"/>
                <a:ea typeface="Baskerville" panose="02020502070401020303" pitchFamily="18" charset="0"/>
              </a:rPr>
              <a:t> , N. C. </a:t>
            </a:r>
            <a:r>
              <a:rPr lang="it-IT" sz="16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Knaflic</a:t>
            </a:r>
            <a:r>
              <a:rPr lang="it-IT" sz="1600" dirty="0">
                <a:latin typeface="Baskerville" panose="02020502070401020303" pitchFamily="18" charset="0"/>
                <a:ea typeface="Baskerville" panose="02020502070401020303" pitchFamily="18" charset="0"/>
              </a:rPr>
              <a:t> , O. </a:t>
            </a:r>
            <a:r>
              <a:rPr lang="it-IT" sz="16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Wilke</a:t>
            </a:r>
            <a:r>
              <a:rPr lang="it-IT" sz="1600" dirty="0">
                <a:latin typeface="Baskerville" panose="02020502070401020303" pitchFamily="18" charset="0"/>
                <a:ea typeface="Baskerville" panose="02020502070401020303" pitchFamily="18" charset="0"/>
              </a:rPr>
              <a:t> , K. </a:t>
            </a:r>
            <a:r>
              <a:rPr lang="it-IT" sz="16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Strachnyi</a:t>
            </a:r>
            <a:r>
              <a:rPr lang="it-IT" sz="1600" dirty="0">
                <a:latin typeface="Baskerville" panose="02020502070401020303" pitchFamily="18" charset="0"/>
                <a:ea typeface="Baskerville" panose="02020502070401020303" pitchFamily="18" charset="0"/>
              </a:rPr>
              <a:t> , A. De Mauro , D. A </a:t>
            </a:r>
            <a:r>
              <a:rPr lang="it-IT" sz="16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Keim</a:t>
            </a:r>
            <a:r>
              <a:rPr lang="it-IT" sz="1600" dirty="0">
                <a:latin typeface="Baskerville" panose="02020502070401020303" pitchFamily="18" charset="0"/>
                <a:ea typeface="Baskerville" panose="02020502070401020303" pitchFamily="18" charset="0"/>
              </a:rPr>
              <a:t>, S. </a:t>
            </a:r>
            <a:r>
              <a:rPr lang="it-IT" sz="16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Few</a:t>
            </a:r>
            <a:r>
              <a:rPr lang="it-IT" sz="1600" dirty="0">
                <a:latin typeface="Baskerville" panose="02020502070401020303" pitchFamily="18" charset="0"/>
                <a:ea typeface="Baskerville" panose="02020502070401020303" pitchFamily="18" charset="0"/>
              </a:rPr>
              <a:t> , </a:t>
            </a:r>
            <a:r>
              <a:rPr lang="it-IT" sz="16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W</a:t>
            </a:r>
            <a:r>
              <a:rPr lang="it-IT" sz="1600" dirty="0">
                <a:latin typeface="Baskerville" panose="02020502070401020303" pitchFamily="18" charset="0"/>
                <a:ea typeface="Baskerville" panose="02020502070401020303" pitchFamily="18" charset="0"/>
              </a:rPr>
              <a:t>. S. Cleveland e </a:t>
            </a:r>
            <a:r>
              <a:rPr lang="it-IT" sz="16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J</a:t>
            </a:r>
            <a:r>
              <a:rPr lang="it-IT" sz="1600" dirty="0">
                <a:latin typeface="Baskerville" panose="02020502070401020303" pitchFamily="18" charset="0"/>
                <a:ea typeface="Baskerville" panose="02020502070401020303" pitchFamily="18" charset="0"/>
              </a:rPr>
              <a:t>. </a:t>
            </a:r>
            <a:r>
              <a:rPr lang="it-IT" sz="16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W</a:t>
            </a:r>
            <a:r>
              <a:rPr lang="it-IT" sz="1600" dirty="0">
                <a:latin typeface="Baskerville" panose="02020502070401020303" pitchFamily="18" charset="0"/>
                <a:ea typeface="Baskerville" panose="02020502070401020303" pitchFamily="18" charset="0"/>
              </a:rPr>
              <a:t>. </a:t>
            </a:r>
            <a:r>
              <a:rPr lang="it-IT" sz="16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Tukey</a:t>
            </a:r>
            <a:r>
              <a:rPr lang="it-IT" sz="1600" dirty="0">
                <a:latin typeface="Baskerville" panose="02020502070401020303" pitchFamily="18" charset="0"/>
                <a:ea typeface="Baskerville" panose="02020502070401020303" pitchFamily="18" charset="0"/>
              </a:rPr>
              <a:t> siamo riusciti a proporre un piano di consulenza per la casa discografica guidato dai dati che permetta un investimento nel mercato musicale cercando di massimizzare i profitti e ridurre i rischi di perdite.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5CFAE64-A1EE-625A-4711-689F4F7514EF}"/>
              </a:ext>
            </a:extLst>
          </p:cNvPr>
          <p:cNvSpPr txBox="1"/>
          <p:nvPr/>
        </p:nvSpPr>
        <p:spPr>
          <a:xfrm>
            <a:off x="882820" y="4248512"/>
            <a:ext cx="49378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latin typeface="Baskerville" panose="02020502070401020303" pitchFamily="18" charset="0"/>
                <a:ea typeface="Baskerville" panose="02020502070401020303" pitchFamily="18" charset="0"/>
              </a:rPr>
              <a:t>Sviluppi futuri: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latin typeface="Baskerville" panose="02020502070401020303" pitchFamily="18" charset="0"/>
                <a:ea typeface="Baskerville" panose="02020502070401020303" pitchFamily="18" charset="0"/>
              </a:rPr>
              <a:t>Sentiment Analysis del testo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latin typeface="Baskerville" panose="02020502070401020303" pitchFamily="18" charset="0"/>
                <a:ea typeface="Baskerville" panose="02020502070401020303" pitchFamily="18" charset="0"/>
              </a:rPr>
              <a:t>Machine Learning predizione della popolarità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latin typeface="Baskerville" panose="02020502070401020303" pitchFamily="18" charset="0"/>
                <a:ea typeface="Baskerville" panose="02020502070401020303" pitchFamily="18" charset="0"/>
              </a:rPr>
              <a:t>Network Analysis data mining su grafo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latin typeface="Baskerville" panose="02020502070401020303" pitchFamily="18" charset="0"/>
                <a:ea typeface="Baskerville" panose="02020502070401020303" pitchFamily="18" charset="0"/>
              </a:rPr>
              <a:t>Estensione temporale</a:t>
            </a:r>
          </a:p>
        </p:txBody>
      </p:sp>
    </p:spTree>
    <p:extLst>
      <p:ext uri="{BB962C8B-B14F-4D97-AF65-F5344CB8AC3E}">
        <p14:creationId xmlns:p14="http://schemas.microsoft.com/office/powerpoint/2010/main" val="2941242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5E9422-DD01-670F-A35B-5913F3630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7417FD5-092B-9EE6-C313-66256AAA8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97850B53-5A4C-401E-3BE4-BCE608FAC912}"/>
              </a:ext>
            </a:extLst>
          </p:cNvPr>
          <p:cNvSpPr/>
          <p:nvPr/>
        </p:nvSpPr>
        <p:spPr>
          <a:xfrm>
            <a:off x="-23939" y="0"/>
            <a:ext cx="12192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61F1A2A-B295-B4DE-6E79-C39F85E5D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8383" y="1223579"/>
            <a:ext cx="4567355" cy="4529606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058657C1-EC8A-0962-F818-B8C54B1B7C9B}"/>
              </a:ext>
            </a:extLst>
          </p:cNvPr>
          <p:cNvSpPr txBox="1"/>
          <p:nvPr/>
        </p:nvSpPr>
        <p:spPr>
          <a:xfrm>
            <a:off x="243124" y="442311"/>
            <a:ext cx="114812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600" b="1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Fine della Presentazione di Song </a:t>
            </a:r>
            <a:r>
              <a:rPr lang="it-IT" sz="3600" b="1" dirty="0" err="1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HighLighter</a:t>
            </a:r>
            <a:endParaRPr lang="it-IT" sz="3600" b="1" dirty="0">
              <a:solidFill>
                <a:srgbClr val="1BD860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C981FBB-9148-57D7-5389-05211E794E1E}"/>
              </a:ext>
            </a:extLst>
          </p:cNvPr>
          <p:cNvSpPr txBox="1"/>
          <p:nvPr/>
        </p:nvSpPr>
        <p:spPr>
          <a:xfrm>
            <a:off x="146755" y="5682821"/>
            <a:ext cx="3031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Professore: Paolo Buono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719CF15-0C0A-0818-4A5A-E2E8E1664819}"/>
              </a:ext>
            </a:extLst>
          </p:cNvPr>
          <p:cNvSpPr txBox="1"/>
          <p:nvPr/>
        </p:nvSpPr>
        <p:spPr>
          <a:xfrm>
            <a:off x="146755" y="6119673"/>
            <a:ext cx="3488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Studente: Diego Miccoli</a:t>
            </a:r>
          </a:p>
        </p:txBody>
      </p:sp>
      <p:pic>
        <p:nvPicPr>
          <p:cNvPr id="9" name="Immagine 8" descr="Immagine che contiene Elementi grafici, grafica, Carattere, schermata&#10;&#10;Il contenuto generato dall'IA potrebbe non essere corretto.">
            <a:extLst>
              <a:ext uri="{FF2B5EF4-FFF2-40B4-BE49-F238E27FC236}">
                <a16:creationId xmlns:a16="http://schemas.microsoft.com/office/drawing/2014/main" id="{66E15D98-7FCF-88B6-3C82-DD5367814B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811" b="2456"/>
          <a:stretch>
            <a:fillRect/>
          </a:stretch>
        </p:blipFill>
        <p:spPr>
          <a:xfrm>
            <a:off x="9245457" y="5310017"/>
            <a:ext cx="2872447" cy="1615452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2F9EEAD-4630-1B29-189B-C1EFB1C3E79C}"/>
              </a:ext>
            </a:extLst>
          </p:cNvPr>
          <p:cNvSpPr txBox="1"/>
          <p:nvPr/>
        </p:nvSpPr>
        <p:spPr>
          <a:xfrm>
            <a:off x="3635021" y="5957014"/>
            <a:ext cx="416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400" b="1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Grazie per l’Attenzione</a:t>
            </a:r>
          </a:p>
        </p:txBody>
      </p:sp>
    </p:spTree>
    <p:extLst>
      <p:ext uri="{BB962C8B-B14F-4D97-AF65-F5344CB8AC3E}">
        <p14:creationId xmlns:p14="http://schemas.microsoft.com/office/powerpoint/2010/main" val="42431594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657</TotalTime>
  <Words>798</Words>
  <Application>Microsoft Macintosh PowerPoint</Application>
  <PresentationFormat>Widescreen</PresentationFormat>
  <Paragraphs>124</Paragraphs>
  <Slides>21</Slides>
  <Notes>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Baskerville</vt:lpstr>
      <vt:lpstr>Baskerville SemiBold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Diego Miccoli</dc:creator>
  <cp:lastModifiedBy>Diego Miccoli</cp:lastModifiedBy>
  <cp:revision>27</cp:revision>
  <dcterms:created xsi:type="dcterms:W3CDTF">2026-03-26T22:41:27Z</dcterms:created>
  <dcterms:modified xsi:type="dcterms:W3CDTF">2026-04-09T15:17:47Z</dcterms:modified>
</cp:coreProperties>
</file>